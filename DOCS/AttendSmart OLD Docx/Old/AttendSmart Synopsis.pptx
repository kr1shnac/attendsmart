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7" r:id="rId1"/>
  </p:sldMasterIdLst>
  <p:notesMasterIdLst>
    <p:notesMasterId r:id="rId20"/>
  </p:notesMasterIdLst>
  <p:sldIdLst>
    <p:sldId id="256" r:id="rId2"/>
    <p:sldId id="257" r:id="rId3"/>
    <p:sldId id="259" r:id="rId4"/>
    <p:sldId id="279" r:id="rId5"/>
    <p:sldId id="270" r:id="rId6"/>
    <p:sldId id="278" r:id="rId7"/>
    <p:sldId id="277" r:id="rId8"/>
    <p:sldId id="275" r:id="rId9"/>
    <p:sldId id="276" r:id="rId10"/>
    <p:sldId id="273" r:id="rId11"/>
    <p:sldId id="264" r:id="rId12"/>
    <p:sldId id="281" r:id="rId13"/>
    <p:sldId id="280" r:id="rId14"/>
    <p:sldId id="274" r:id="rId15"/>
    <p:sldId id="265" r:id="rId16"/>
    <p:sldId id="282" r:id="rId17"/>
    <p:sldId id="267" r:id="rId18"/>
    <p:sldId id="272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60" autoAdjust="0"/>
  </p:normalViewPr>
  <p:slideViewPr>
    <p:cSldViewPr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C2091D-DCEA-4599-9A21-EE79B42E86EA}" type="datetimeFigureOut">
              <a:rPr lang="en-IN" smtClean="0"/>
              <a:t>14-09-2025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1AC742-E786-4159-9814-3ECA3E6E3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1331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1AC742-E786-4159-9814-3ECA3E6E3826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7694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295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550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397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985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529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918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482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097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528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184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268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796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52060"/>
            <a:ext cx="6589950" cy="2081540"/>
          </a:xfrm>
        </p:spPr>
        <p:txBody>
          <a:bodyPr>
            <a:normAutofit fontScale="90000"/>
          </a:bodyPr>
          <a:lstStyle/>
          <a:p>
            <a:r>
              <a:rPr lang="en-US" sz="27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EAST WEST INSTITUTE OF TECHNOLOGY</a:t>
            </a:r>
            <a:br>
              <a:rPr lang="en-IN" dirty="0"/>
            </a:br>
            <a:r>
              <a:rPr lang="en-US" sz="2200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Machine Learning </a:t>
            </a:r>
            <a:br>
              <a:rPr lang="en-US" sz="27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MINI PROJECT (BCS586) </a:t>
            </a:r>
            <a:b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Synopsis Presentation On :</a:t>
            </a:r>
            <a:endParaRPr lang="en-IN" sz="24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14" y="179832"/>
            <a:ext cx="1022971" cy="1082893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685800" y="2035175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AttendSmart</a:t>
            </a:r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Proxy-proof, Insightful, Effortless.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7612" y="179832"/>
            <a:ext cx="1237314" cy="108289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62800" y="6324600"/>
            <a:ext cx="2818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b="1" baseline="30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SEMESTER (2025-26)</a:t>
            </a:r>
            <a:endParaRPr lang="en-IN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97683A7-D0C9-7A8F-836F-837AA679A8FA}"/>
              </a:ext>
            </a:extLst>
          </p:cNvPr>
          <p:cNvSpPr txBox="1">
            <a:spLocks/>
          </p:cNvSpPr>
          <p:nvPr/>
        </p:nvSpPr>
        <p:spPr>
          <a:xfrm>
            <a:off x="1600200" y="1238310"/>
            <a:ext cx="6400800" cy="17526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endParaRPr lang="en-US" sz="1800" b="1" i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14EE9696-5860-8289-EF79-7F5A70F952F2}"/>
              </a:ext>
            </a:extLst>
          </p:cNvPr>
          <p:cNvSpPr>
            <a:spLocks noGrp="1"/>
          </p:cNvSpPr>
          <p:nvPr/>
        </p:nvSpPr>
        <p:spPr>
          <a:xfrm>
            <a:off x="2057400" y="3048000"/>
            <a:ext cx="50292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Rakshitha S P                             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1EW23AI045</a:t>
            </a:r>
          </a:p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Krishna 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1EW23AI024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Yashas V Gowda                           1EW23AI059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Mohammad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Nuhan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1EW23AI029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326D77-3201-C1C9-8579-678958758758}"/>
              </a:ext>
            </a:extLst>
          </p:cNvPr>
          <p:cNvSpPr txBox="1"/>
          <p:nvPr/>
        </p:nvSpPr>
        <p:spPr>
          <a:xfrm>
            <a:off x="3238500" y="5018782"/>
            <a:ext cx="2667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</a:t>
            </a:r>
          </a:p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Usha B S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EWIT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4490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7A29F28-2F03-B1A8-0390-68FE48DA3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339" y="457200"/>
            <a:ext cx="7765322" cy="970450"/>
          </a:xfrm>
        </p:spPr>
        <p:txBody>
          <a:bodyPr>
            <a:normAutofit/>
          </a:bodyPr>
          <a:lstStyle/>
          <a:p>
            <a:r>
              <a:rPr lang="en-IN" sz="5000" b="1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AE136EC-EBC6-8C30-97A3-AEEA927A9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243" y="1703832"/>
            <a:ext cx="3276600" cy="4267200"/>
          </a:xfrm>
        </p:spPr>
        <p:txBody>
          <a:bodyPr>
            <a:noAutofit/>
          </a:bodyPr>
          <a:lstStyle/>
          <a:p>
            <a:pPr marL="494100" indent="-457200">
              <a:lnSpc>
                <a:spcPct val="100000"/>
              </a:lnSpc>
              <a:buFont typeface="+mj-lt"/>
              <a:buAutoNum type="arabicPeriod"/>
            </a:pPr>
            <a:r>
              <a:rPr lang="en-IN" sz="25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494100" indent="-457200">
              <a:lnSpc>
                <a:spcPct val="100000"/>
              </a:lnSpc>
              <a:buFont typeface="+mj-lt"/>
              <a:buAutoNum type="arabicPeriod"/>
            </a:pPr>
            <a:r>
              <a:rPr lang="en-IN" sz="25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94100" indent="-457200">
              <a:lnSpc>
                <a:spcPct val="100000"/>
              </a:lnSpc>
              <a:buFont typeface="+mj-lt"/>
              <a:buAutoNum type="arabicPeriod"/>
            </a:pPr>
            <a:r>
              <a:rPr lang="en-IN" sz="25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494100" indent="-457200">
              <a:lnSpc>
                <a:spcPct val="100000"/>
              </a:lnSpc>
              <a:buFont typeface="+mj-lt"/>
              <a:buAutoNum type="arabicPeriod"/>
            </a:pPr>
            <a:r>
              <a:rPr lang="en-IN" sz="25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4100" indent="-457200">
              <a:lnSpc>
                <a:spcPct val="100000"/>
              </a:lnSpc>
              <a:buFont typeface="+mj-lt"/>
              <a:buAutoNum type="arabicPeriod"/>
            </a:pPr>
            <a:r>
              <a:rPr lang="en-IN" sz="25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 marL="494100" indent="-457200">
              <a:lnSpc>
                <a:spcPct val="100000"/>
              </a:lnSpc>
              <a:buFont typeface="+mj-lt"/>
              <a:buAutoNum type="arabicPeriod"/>
            </a:pPr>
            <a:r>
              <a:rPr lang="en-IN" sz="25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4100" indent="-457200">
              <a:lnSpc>
                <a:spcPct val="100000"/>
              </a:lnSpc>
              <a:buFont typeface="+mj-lt"/>
              <a:buAutoNum type="arabicPeriod"/>
            </a:pPr>
            <a:r>
              <a:rPr lang="en-IN" sz="25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3D10C90-44B8-3057-537C-F14C6DDE698D}"/>
              </a:ext>
            </a:extLst>
          </p:cNvPr>
          <p:cNvSpPr txBox="1">
            <a:spLocks/>
          </p:cNvSpPr>
          <p:nvPr/>
        </p:nvSpPr>
        <p:spPr>
          <a:xfrm>
            <a:off x="4191000" y="1703832"/>
            <a:ext cx="4387042" cy="42672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494100" indent="-457200">
              <a:buFont typeface="+mj-lt"/>
              <a:buAutoNum type="arabicPeriod" startAt="8"/>
            </a:pPr>
            <a:r>
              <a:rPr lang="en-IN" sz="25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494100" indent="-457200">
              <a:buFont typeface="+mj-lt"/>
              <a:buAutoNum type="arabicPeriod" startAt="8"/>
            </a:pPr>
            <a:r>
              <a:rPr lang="en-IN" sz="25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</a:p>
          <a:p>
            <a:pPr marL="494100" indent="-457200">
              <a:buFont typeface="+mj-lt"/>
              <a:buAutoNum type="arabicPeriod" startAt="8"/>
            </a:pPr>
            <a:r>
              <a:rPr lang="en-IN" sz="25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Experience Flowchart</a:t>
            </a:r>
          </a:p>
          <a:p>
            <a:pPr marL="494100" indent="-457200">
              <a:buFont typeface="+mj-lt"/>
              <a:buAutoNum type="arabicPeriod" startAt="8"/>
            </a:pPr>
            <a:r>
              <a:rPr lang="en-IN" sz="25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Technical Architecture Dig</a:t>
            </a:r>
          </a:p>
          <a:p>
            <a:pPr marL="494100" indent="-457200">
              <a:buFont typeface="+mj-lt"/>
              <a:buAutoNum type="arabicPeriod" startAt="8"/>
            </a:pPr>
            <a:r>
              <a:rPr lang="en-IN" sz="25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  <a:p>
            <a:pPr marL="494100" indent="-457200">
              <a:buFont typeface="+mj-lt"/>
              <a:buAutoNum type="arabicPeriod" startAt="8"/>
            </a:pPr>
            <a:r>
              <a:rPr lang="en-IN" sz="25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marL="494100" indent="-457200">
              <a:buFont typeface="+mj-lt"/>
              <a:buAutoNum type="arabicPeriod" startAt="8"/>
            </a:pPr>
            <a:r>
              <a:rPr lang="en-IN" sz="25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4290165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252DFFCA-CB38-D160-9CF9-5F4E17A60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339" y="457200"/>
            <a:ext cx="7765322" cy="970450"/>
          </a:xfrm>
        </p:spPr>
        <p:txBody>
          <a:bodyPr>
            <a:normAutofit/>
          </a:bodyPr>
          <a:lstStyle/>
          <a:p>
            <a:pPr algn="just"/>
            <a:r>
              <a:rPr lang="en-IN" sz="5000" b="1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289AA57-B727-BC5B-15E8-6AEAD1D1A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339" y="1752600"/>
            <a:ext cx="7765322" cy="2610950"/>
          </a:xfrm>
        </p:spPr>
        <p:txBody>
          <a:bodyPr>
            <a:noAutofit/>
          </a:bodyPr>
          <a:lstStyle/>
          <a:p>
            <a:pPr marL="36900" indent="0" algn="just">
              <a:buNone/>
            </a:pPr>
            <a:r>
              <a:rPr lang="en-US" sz="2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AttendSmart</a:t>
            </a: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 secure, multi-modal attendance system featuring face, voice, QR, fingerprint, and geofencing authentication. The platform automates check-in, eliminates proxy attendance, and provides real-time analytics and gamified engagement for all stakeholders.</a:t>
            </a:r>
          </a:p>
        </p:txBody>
      </p:sp>
    </p:spTree>
    <p:extLst>
      <p:ext uri="{BB962C8B-B14F-4D97-AF65-F5344CB8AC3E}">
        <p14:creationId xmlns:p14="http://schemas.microsoft.com/office/powerpoint/2010/main" val="3522481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E32EC-FE80-90D8-912F-F586C8C51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AF37115-ED27-258A-6FBA-00EF3013F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339" y="457200"/>
            <a:ext cx="7765322" cy="970450"/>
          </a:xfrm>
        </p:spPr>
        <p:txBody>
          <a:bodyPr>
            <a:normAutofit/>
          </a:bodyPr>
          <a:lstStyle/>
          <a:p>
            <a:pPr algn="just"/>
            <a:r>
              <a:rPr lang="en-IN" sz="5000" b="1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73F8AD4-9DED-D719-8FDA-3CD9BC61F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339" y="1752600"/>
            <a:ext cx="7765322" cy="261095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attendance processes are time-consuming, prone to errors, and provide limited insight into student engagement; as academic pressures increase and remote/hybrid classes persist, institutions require smarter, automated systems to keep pace.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AttendSmart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meets this need by delivering a convenient, reliable, and data-driven platform that streamlines check-ins, enhances accuracy, and transforms attendance data into actionable intelligence for better decision-making.</a:t>
            </a:r>
          </a:p>
          <a:p>
            <a:pPr marL="0" indent="0" algn="just">
              <a:buNone/>
            </a:pPr>
            <a:endParaRPr lang="en-US" sz="2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3175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9339" y="381000"/>
            <a:ext cx="7765322" cy="970450"/>
          </a:xfrm>
        </p:spPr>
        <p:txBody>
          <a:bodyPr/>
          <a:lstStyle/>
          <a:p>
            <a:pPr algn="just"/>
            <a:r>
              <a:rPr lang="en-IN" sz="5000" b="1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87F8C43-6D11-ADAD-7070-B14D616AC9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6324491"/>
              </p:ext>
            </p:extLst>
          </p:nvPr>
        </p:nvGraphicFramePr>
        <p:xfrm>
          <a:off x="457200" y="1600200"/>
          <a:ext cx="8229600" cy="36576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810633954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310195018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24317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4212242880"/>
                    </a:ext>
                  </a:extLst>
                </a:gridCol>
              </a:tblGrid>
              <a:tr h="753035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Paper/Author</a:t>
                      </a:r>
                      <a:endParaRPr lang="en-US" sz="1800" u="none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Advantages</a:t>
                      </a:r>
                      <a:endParaRPr lang="en-US" sz="1800" u="none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Disadvantages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109258"/>
                  </a:ext>
                </a:extLst>
              </a:tr>
              <a:tr h="1075765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OpenCV Face (IEEE)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Face camera detection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Simple, quick</a:t>
                      </a:r>
                      <a:endParaRPr lang="en-I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effectLst/>
                        </a:rPr>
                        <a:t>Poor light = errors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580272"/>
                  </a:ext>
                </a:extLst>
              </a:tr>
              <a:tr h="753035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QR Code (IJSR)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QR for roll call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Device agnostic</a:t>
                      </a:r>
                      <a:endParaRPr lang="en-I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Proxy easily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928323"/>
                  </a:ext>
                </a:extLst>
              </a:tr>
              <a:tr h="1075765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Multi-Modal (ACM)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Biometric combos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Proxy-proof, accurate</a:t>
                      </a:r>
                      <a:endParaRPr lang="en-I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Hardware/barrier</a:t>
                      </a:r>
                      <a:endParaRPr lang="en-US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62042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3788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FCE7A-C940-796C-0AA7-3862CB3E0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92A90ED-A4D9-8B99-8EAB-7B998E2F5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339" y="457200"/>
            <a:ext cx="7765322" cy="970450"/>
          </a:xfrm>
        </p:spPr>
        <p:txBody>
          <a:bodyPr>
            <a:normAutofit/>
          </a:bodyPr>
          <a:lstStyle/>
          <a:p>
            <a:pPr algn="just"/>
            <a:r>
              <a:rPr lang="en-IN" sz="5000" b="1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225AEA0-A269-F65B-6DA2-C9108C7C2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339" y="1752600"/>
            <a:ext cx="7765322" cy="2610950"/>
          </a:xfrm>
        </p:spPr>
        <p:txBody>
          <a:bodyPr>
            <a:noAutofit/>
          </a:bodyPr>
          <a:lstStyle/>
          <a:p>
            <a:pPr marL="36900" indent="0" algn="just">
              <a:buNone/>
            </a:pPr>
            <a:r>
              <a:rPr lang="en-IN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 and validate an AI‑assisted, multi‑modal attendance system that eliminates proxy attendance, minimizes manual overhead, and provides real‑time analytics for students, faculty, and administrators.</a:t>
            </a:r>
          </a:p>
          <a:p>
            <a:pPr marL="36900" indent="0" algn="just">
              <a:buNone/>
            </a:pPr>
            <a:endParaRPr lang="en-US" sz="2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6729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2DED3-48F5-D5E2-F95B-D7EE38085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36E5C40-28F8-8ED8-AE2E-A2672A1E5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339" y="457200"/>
            <a:ext cx="7765322" cy="970450"/>
          </a:xfrm>
        </p:spPr>
        <p:txBody>
          <a:bodyPr>
            <a:normAutofit/>
          </a:bodyPr>
          <a:lstStyle/>
          <a:p>
            <a:pPr algn="just"/>
            <a:r>
              <a:rPr lang="en-IN" sz="5000" b="1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DD72A1F-2FC0-6EB6-5D19-84DB14E36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339" y="1752600"/>
            <a:ext cx="7765322" cy="2610950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Roll-call, RFID cards, thumb-scan tools dominate.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Slow: typically 10 mins per class.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Proxy attendance common and rarely caught.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 real-time data or student engagement.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6578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6C26D-8890-B246-6E84-00F848544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1CBFF7-6D42-F775-BB6C-165A7FD2D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339" y="457200"/>
            <a:ext cx="7765322" cy="970450"/>
          </a:xfrm>
        </p:spPr>
        <p:txBody>
          <a:bodyPr>
            <a:normAutofit/>
          </a:bodyPr>
          <a:lstStyle/>
          <a:p>
            <a:pPr algn="just"/>
            <a:r>
              <a:rPr lang="en-IN" sz="5000" b="1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F3D33F1-76CA-29B6-483E-7C153B785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339" y="1752600"/>
            <a:ext cx="7765322" cy="2610950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IN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AttendSmart</a:t>
            </a:r>
            <a:r>
              <a:rPr lang="en-IN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Multi-modal (face, voice, QR, 	fingerprint, geofence) check-in.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IN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Agile fallback logic for reliability in all conditions.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IN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Gamification (streaks, badges), instant notifications, 	parent alerts.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IN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Real-time analytics dashboard for teachers &amp; admins.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IN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End-to-end encrypted data storage &amp; secure cloud 	hosting.</a:t>
            </a:r>
          </a:p>
        </p:txBody>
      </p:sp>
    </p:spTree>
    <p:extLst>
      <p:ext uri="{BB962C8B-B14F-4D97-AF65-F5344CB8AC3E}">
        <p14:creationId xmlns:p14="http://schemas.microsoft.com/office/powerpoint/2010/main" val="325063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F85D7-6B11-BC21-E2E9-B986D7213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F83599A-C3B7-5627-7CAC-4F29D4B79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339" y="457200"/>
            <a:ext cx="7765322" cy="970450"/>
          </a:xfrm>
        </p:spPr>
        <p:txBody>
          <a:bodyPr>
            <a:normAutofit/>
          </a:bodyPr>
          <a:lstStyle/>
          <a:p>
            <a:pPr algn="just"/>
            <a:r>
              <a:rPr lang="en-IN" sz="5000" b="1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A655D4B-034D-705E-A2FF-5340C6338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339" y="1752600"/>
            <a:ext cx="7765322" cy="2610950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Eliminate proxy attendance (target &gt; 99% accuracy)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Reduce average check-in to 15 seconds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Boost student engagement via gamification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Provide actionable class and individual analytics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Ensure robust security and privacy compliance</a:t>
            </a:r>
          </a:p>
        </p:txBody>
      </p:sp>
    </p:spTree>
    <p:extLst>
      <p:ext uri="{BB962C8B-B14F-4D97-AF65-F5344CB8AC3E}">
        <p14:creationId xmlns:p14="http://schemas.microsoft.com/office/powerpoint/2010/main" val="1133631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47DB4-0E23-666D-11FD-662175284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ABEB1C2-E77E-7548-5D97-CE4E7ED77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339" y="457200"/>
            <a:ext cx="7765322" cy="970450"/>
          </a:xfrm>
        </p:spPr>
        <p:txBody>
          <a:bodyPr>
            <a:normAutofit/>
          </a:bodyPr>
          <a:lstStyle/>
          <a:p>
            <a:pPr algn="just"/>
            <a:r>
              <a:rPr lang="en-IN" sz="5000" b="1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224CE9E-A88D-3D0E-311D-6F94793EE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339" y="1752600"/>
            <a:ext cx="7765322" cy="2610950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Agile development in 6 sprints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Build and integrate multi-modal authentication 	modules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Implement real-time dashboards and notifications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Automated testing and continuous integration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Regular feedback from mock/demo users</a:t>
            </a:r>
          </a:p>
        </p:txBody>
      </p:sp>
    </p:spTree>
    <p:extLst>
      <p:ext uri="{BB962C8B-B14F-4D97-AF65-F5344CB8AC3E}">
        <p14:creationId xmlns:p14="http://schemas.microsoft.com/office/powerpoint/2010/main" val="1912641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1EC732B-95C4-8898-5533-247845F48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339" y="457200"/>
            <a:ext cx="7765322" cy="970450"/>
          </a:xfrm>
        </p:spPr>
        <p:txBody>
          <a:bodyPr>
            <a:normAutofit/>
          </a:bodyPr>
          <a:lstStyle/>
          <a:p>
            <a:pPr algn="just"/>
            <a:r>
              <a:rPr lang="en-IN" sz="5000" b="1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AD64C2E-B7BE-FE84-3555-0616BFDDC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339" y="1676400"/>
            <a:ext cx="7765322" cy="2610950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IN" sz="2600" b="1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  <a:r>
              <a:rPr lang="en-IN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React.js, React Native, Tailwind CSS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IN" sz="2600" b="1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Backend: </a:t>
            </a:r>
            <a:r>
              <a:rPr lang="en-IN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Node.js, Express, JWT, Docker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IN" sz="2600" b="1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IN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MongoDB Atlas (encrypted)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IN" sz="2600" b="1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Biometrics: </a:t>
            </a:r>
            <a:r>
              <a:rPr lang="en-IN" sz="2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IN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(face), Web Speech (voice), 			   </a:t>
            </a:r>
            <a:r>
              <a:rPr lang="en-IN" sz="2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WebAuthn</a:t>
            </a:r>
            <a:r>
              <a:rPr lang="en-IN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(fingerprint), </a:t>
            </a:r>
            <a:r>
              <a:rPr lang="en-IN" sz="2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jsQR</a:t>
            </a:r>
            <a:endParaRPr lang="en-IN" sz="2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IN" sz="2600" b="1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Notifications: </a:t>
            </a:r>
            <a:r>
              <a:rPr lang="en-IN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Firebase Cloud Messaging, Twilio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IN" sz="2600" b="1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DevOps: </a:t>
            </a:r>
            <a:r>
              <a:rPr lang="en-IN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GitHub Actions</a:t>
            </a:r>
          </a:p>
        </p:txBody>
      </p:sp>
    </p:spTree>
    <p:extLst>
      <p:ext uri="{BB962C8B-B14F-4D97-AF65-F5344CB8AC3E}">
        <p14:creationId xmlns:p14="http://schemas.microsoft.com/office/powerpoint/2010/main" val="3016132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D57F06-93FE-0F9C-FAAE-CB4990D14305}"/>
              </a:ext>
            </a:extLst>
          </p:cNvPr>
          <p:cNvSpPr/>
          <p:nvPr/>
        </p:nvSpPr>
        <p:spPr>
          <a:xfrm>
            <a:off x="381000" y="229722"/>
            <a:ext cx="8382000" cy="6477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Content Placeholder 5" descr="A screenshot of a computer">
            <a:extLst>
              <a:ext uri="{FF2B5EF4-FFF2-40B4-BE49-F238E27FC236}">
                <a16:creationId xmlns:a16="http://schemas.microsoft.com/office/drawing/2014/main" id="{DE98B833-C1ED-D0AE-FBE0-D2F71BA4D1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33" r="10833" b="7500"/>
          <a:stretch>
            <a:fillRect/>
          </a:stretch>
        </p:blipFill>
        <p:spPr>
          <a:xfrm>
            <a:off x="375920" y="60156"/>
            <a:ext cx="8382000" cy="6816132"/>
          </a:xfrm>
        </p:spPr>
      </p:pic>
    </p:spTree>
    <p:extLst>
      <p:ext uri="{BB962C8B-B14F-4D97-AF65-F5344CB8AC3E}">
        <p14:creationId xmlns:p14="http://schemas.microsoft.com/office/powerpoint/2010/main" val="1938625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124EBF-4DB8-9E78-32B2-BC26088E26B6}"/>
              </a:ext>
            </a:extLst>
          </p:cNvPr>
          <p:cNvSpPr/>
          <p:nvPr/>
        </p:nvSpPr>
        <p:spPr>
          <a:xfrm>
            <a:off x="381000" y="152400"/>
            <a:ext cx="8382000" cy="655432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" name="Picture 4" descr="A screen shot of a computer">
            <a:extLst>
              <a:ext uri="{FF2B5EF4-FFF2-40B4-BE49-F238E27FC236}">
                <a16:creationId xmlns:a16="http://schemas.microsoft.com/office/drawing/2014/main" id="{CEF23C65-2CDB-6C91-07BB-5BC25D9DE9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66" t="1250" r="14167" b="5000"/>
          <a:stretch>
            <a:fillRect/>
          </a:stretch>
        </p:blipFill>
        <p:spPr>
          <a:xfrm>
            <a:off x="571500" y="0"/>
            <a:ext cx="8001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70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CE547-856A-D8DE-0787-13FB244C7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A5A1231-4E5D-F4CC-AD1B-392B79D94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339" y="457200"/>
            <a:ext cx="7765322" cy="970450"/>
          </a:xfrm>
        </p:spPr>
        <p:txBody>
          <a:bodyPr>
            <a:normAutofit/>
          </a:bodyPr>
          <a:lstStyle/>
          <a:p>
            <a:r>
              <a:rPr lang="en-IN" sz="5000" b="1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  <a:endParaRPr lang="en-IN" sz="5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63BB6E1-D1CF-D01F-25B2-D628C34BA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339" y="1752600"/>
            <a:ext cx="7765322" cy="261095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Target 95%+ reduction in proxy attendance    	incidents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90% decrease in faculty time spent on attendance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Engagement and performance tracking for 	proactive interventions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Happy students and faculty, increased institutional 	credibility</a:t>
            </a:r>
          </a:p>
        </p:txBody>
      </p:sp>
    </p:spTree>
    <p:extLst>
      <p:ext uri="{BB962C8B-B14F-4D97-AF65-F5344CB8AC3E}">
        <p14:creationId xmlns:p14="http://schemas.microsoft.com/office/powerpoint/2010/main" val="1323937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9BA4E97-BF3F-0C3D-444C-605ECF25E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339" y="457200"/>
            <a:ext cx="7765322" cy="970450"/>
          </a:xfrm>
        </p:spPr>
        <p:txBody>
          <a:bodyPr>
            <a:normAutofit/>
          </a:bodyPr>
          <a:lstStyle/>
          <a:p>
            <a:r>
              <a:rPr lang="en-IN" sz="5000" b="1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IN" sz="5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A8ECECC-9963-B2F3-CFCA-CEA041B03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339" y="1752600"/>
            <a:ext cx="7765322" cy="261095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Educational institutes: colleges, schools, coaching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centers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Sports academies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Exam halls and training centers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Any large-scale attendance </a:t>
            </a:r>
            <a:r>
              <a:rPr lang="en-US" sz="2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managemen</a:t>
            </a: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scenario</a:t>
            </a:r>
          </a:p>
        </p:txBody>
      </p:sp>
    </p:spTree>
    <p:extLst>
      <p:ext uri="{BB962C8B-B14F-4D97-AF65-F5344CB8AC3E}">
        <p14:creationId xmlns:p14="http://schemas.microsoft.com/office/powerpoint/2010/main" val="20751273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115752B-D644-7882-215E-ECF399178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339" y="457200"/>
            <a:ext cx="7765322" cy="970450"/>
          </a:xfrm>
        </p:spPr>
        <p:txBody>
          <a:bodyPr>
            <a:normAutofit/>
          </a:bodyPr>
          <a:lstStyle/>
          <a:p>
            <a:r>
              <a:rPr lang="en-IN" sz="5000" b="1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5866990-A3C2-157B-29BB-28DEDB6E1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339" y="1752600"/>
            <a:ext cx="7765322" cy="261095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Emotion detection through facial analysis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IoT smart classroom integrations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Blockchain-based immutable records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AI-powered performance predictions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Multi-language, region-specific customizations</a:t>
            </a:r>
          </a:p>
        </p:txBody>
      </p:sp>
    </p:spTree>
    <p:extLst>
      <p:ext uri="{BB962C8B-B14F-4D97-AF65-F5344CB8AC3E}">
        <p14:creationId xmlns:p14="http://schemas.microsoft.com/office/powerpoint/2010/main" val="14696351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38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60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suggestions for improvement?</a:t>
            </a:r>
            <a:endParaRPr lang="en-IN" sz="60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66957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38400"/>
            <a:ext cx="8229600" cy="1143000"/>
          </a:xfrm>
        </p:spPr>
        <p:txBody>
          <a:bodyPr>
            <a:normAutofit/>
          </a:bodyPr>
          <a:lstStyle/>
          <a:p>
            <a:r>
              <a:rPr lang="en-US" sz="6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6000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2758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187</TotalTime>
  <Words>636</Words>
  <Application>Microsoft Office PowerPoint</Application>
  <PresentationFormat>On-screen Show (4:3)</PresentationFormat>
  <Paragraphs>99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Arial</vt:lpstr>
      <vt:lpstr>Calibri</vt:lpstr>
      <vt:lpstr>Calibri Light</vt:lpstr>
      <vt:lpstr>Times New Roman</vt:lpstr>
      <vt:lpstr>Wingdings</vt:lpstr>
      <vt:lpstr>Office 2013 - 2022 Theme</vt:lpstr>
      <vt:lpstr>EAST WEST INSTITUTE OF TECHNOLOGY Department Of Artificial Intelligence And Machine Learning  MINI PROJECT (BCS586)    Synopsis Presentation On :</vt:lpstr>
      <vt:lpstr>Contents</vt:lpstr>
      <vt:lpstr>Abstract</vt:lpstr>
      <vt:lpstr>Introduction</vt:lpstr>
      <vt:lpstr>Literature Survey</vt:lpstr>
      <vt:lpstr>Problem Statement</vt:lpstr>
      <vt:lpstr>Existing System</vt:lpstr>
      <vt:lpstr>Proposed System</vt:lpstr>
      <vt:lpstr>Objectives</vt:lpstr>
      <vt:lpstr>Methodology</vt:lpstr>
      <vt:lpstr>Tools &amp; Technologies</vt:lpstr>
      <vt:lpstr>PowerPoint Presentation</vt:lpstr>
      <vt:lpstr>PowerPoint Presentation</vt:lpstr>
      <vt:lpstr>Expected Outcomes</vt:lpstr>
      <vt:lpstr>Applications</vt:lpstr>
      <vt:lpstr>Future Scope</vt:lpstr>
      <vt:lpstr>Any suggestions for improvement?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PAWANRAJ S P</dc:creator>
  <cp:lastModifiedBy>LUCK .</cp:lastModifiedBy>
  <cp:revision>92</cp:revision>
  <dcterms:created xsi:type="dcterms:W3CDTF">2006-08-16T00:00:00Z</dcterms:created>
  <dcterms:modified xsi:type="dcterms:W3CDTF">2025-09-14T06:45:50Z</dcterms:modified>
</cp:coreProperties>
</file>