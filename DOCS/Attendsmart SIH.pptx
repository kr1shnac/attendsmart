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8" r:id="rId4"/>
    <p:sldId id="297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3E3E"/>
    <a:srgbClr val="787878"/>
    <a:srgbClr val="10253F"/>
    <a:srgbClr val="595959"/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4C3D45-CA73-4849-A848-DD159F76F084}" v="1" dt="2025-09-29T06:29:24.603"/>
    <p1510:client id="{9ACCCB74-7C92-4899-9196-548912C609C5}" v="6" dt="2025-09-29T09:05:32.4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58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B7B69-1C2B-E882-B710-22D64C059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98C402FD-6F13-9ACA-E7AF-CE6F23CC4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76AFBC03-4AB4-5D6E-048A-3DA1181B8F9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39099BFF-623B-2585-71CD-BB931CDCF6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237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F8206-59DE-699A-B4C3-6A1243BD8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8B01326E-DBB9-51CB-F615-E327C88F68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C87C04EA-F24B-4073-7D16-A3EF3206946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F64D33F2-C830-0698-8A7B-97CE77ADDF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9388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67300" y="-519171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6491" y="1201081"/>
            <a:ext cx="7025558" cy="5332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SIH25016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Automated Student Attendance Monitoring and Analytics System  for Colleges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-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Smart Education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 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From portal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AttendSmart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9" name="Picture 2958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051272A-0242-A2B9-77D4-3319BA2CCD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507" t="55097" r="49584" b="29765"/>
          <a:stretch>
            <a:fillRect/>
          </a:stretch>
        </p:blipFill>
        <p:spPr>
          <a:xfrm>
            <a:off x="553693" y="5801950"/>
            <a:ext cx="2037596" cy="1038184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2F27595A-68ED-967C-E178-3D4831D57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6771" y="5447591"/>
            <a:ext cx="559594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b="1" dirty="0">
                <a:solidFill>
                  <a:schemeClr val="accent2">
                    <a:lumMod val="50000"/>
                  </a:schemeClr>
                </a:solidFill>
                <a:latin typeface="Kristen ITC" panose="03050502040202030202" pitchFamily="66" charset="0"/>
              </a:rPr>
              <a:t>For better understanding watch this video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7C01072-8A2B-BFA7-18CF-C4330836FC92}"/>
              </a:ext>
            </a:extLst>
          </p:cNvPr>
          <p:cNvSpPr/>
          <p:nvPr/>
        </p:nvSpPr>
        <p:spPr>
          <a:xfrm>
            <a:off x="357238" y="1132102"/>
            <a:ext cx="5380224" cy="2290485"/>
          </a:xfrm>
          <a:prstGeom prst="roundRect">
            <a:avLst>
              <a:gd name="adj" fmla="val 8283"/>
            </a:avLst>
          </a:prstGeom>
          <a:solidFill>
            <a:schemeClr val="tx2">
              <a:lumMod val="5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10253F"/>
              </a:solidFill>
            </a:endParaRPr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36255D00-A49B-C8E1-B6D7-0F1C84AE8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44" y="1777414"/>
            <a:ext cx="4916731" cy="1400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defTabSz="914400" eaLnBrk="0" hangingPunct="0">
              <a:buFont typeface="Arial" panose="020B0604020202020204" pitchFamily="34" charset="0"/>
              <a:buChar char="•"/>
            </a:pPr>
            <a:r>
              <a:rPr lang="en-US" altLang="en-US" sz="170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Large classes → harder to track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icrosoft YaHei Light" panose="020B0502040204020203" pitchFamily="34" charset="-122"/>
              <a:ea typeface="Microsoft YaHei Light" panose="020B0502040204020203" pitchFamily="34" charset="-122"/>
              <a:cs typeface="Noto Sans Kannada Light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Manual roll calls &amp; paper </a:t>
            </a: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registers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 waste time</a:t>
            </a:r>
          </a:p>
          <a:p>
            <a:pPr marL="285750" lvl="0" indent="-285750" defTabSz="914400" eaLnBrk="0" hangingPunct="0">
              <a:buFont typeface="Arial" panose="020B0604020202020204" pitchFamily="34" charset="0"/>
              <a:buChar char="•"/>
            </a:pPr>
            <a:r>
              <a:rPr lang="en-US" altLang="en-US" sz="1700" b="1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Errors &amp; proxy </a:t>
            </a:r>
            <a:r>
              <a:rPr lang="en-US" altLang="en-US" sz="170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attendance can occur</a:t>
            </a:r>
            <a:endParaRPr kumimoji="0" lang="en-US" altLang="en-US" sz="1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icrosoft YaHei Light" panose="020B0502040204020203" pitchFamily="34" charset="-122"/>
              <a:ea typeface="Microsoft YaHei Light" panose="020B0502040204020203" pitchFamily="34" charset="-122"/>
              <a:cs typeface="Noto Sans Kannada Light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No easy insights for faculty/admin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Outdated system slows digital transformation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7DDD17A-1532-2DE0-9CC4-F0D68B63A34D}"/>
              </a:ext>
            </a:extLst>
          </p:cNvPr>
          <p:cNvSpPr/>
          <p:nvPr/>
        </p:nvSpPr>
        <p:spPr>
          <a:xfrm>
            <a:off x="6339445" y="1000610"/>
            <a:ext cx="5649074" cy="4631753"/>
          </a:xfrm>
          <a:prstGeom prst="roundRect">
            <a:avLst>
              <a:gd name="adj" fmla="val 4983"/>
            </a:avLst>
          </a:prstGeom>
          <a:solidFill>
            <a:schemeClr val="tx2">
              <a:lumMod val="5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5CDEE7-71F8-E276-9191-92B1E71E09D4}"/>
              </a:ext>
            </a:extLst>
          </p:cNvPr>
          <p:cNvSpPr txBox="1"/>
          <p:nvPr/>
        </p:nvSpPr>
        <p:spPr>
          <a:xfrm>
            <a:off x="6398310" y="3402236"/>
            <a:ext cx="37600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Kristen ITC" panose="03050502040202030202" pitchFamily="66" charset="0"/>
              </a:rPr>
              <a:t>Our Project Promises:</a:t>
            </a:r>
            <a:endParaRPr lang="en-IN" sz="2200" b="1" dirty="0">
              <a:solidFill>
                <a:schemeClr val="accent2">
                  <a:lumMod val="60000"/>
                  <a:lumOff val="40000"/>
                </a:schemeClr>
              </a:solidFill>
              <a:latin typeface="Kristen ITC" panose="03050502040202030202" pitchFamily="66" charset="0"/>
            </a:endParaRPr>
          </a:p>
        </p:txBody>
      </p:sp>
      <p:sp>
        <p:nvSpPr>
          <p:cNvPr id="33" name="Rectangle 13">
            <a:extLst>
              <a:ext uri="{FF2B5EF4-FFF2-40B4-BE49-F238E27FC236}">
                <a16:creationId xmlns:a16="http://schemas.microsoft.com/office/drawing/2014/main" id="{CC3B71C2-B0B4-DEB5-70EE-299B21E80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2404" y="3833123"/>
            <a:ext cx="5138024" cy="161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Saves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No proxy or errors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5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Secure, offline-first with local                   biometric handling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Instant teacher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Easy to use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B2A798A-834E-3E79-E03E-DB9E454EC1B2}"/>
              </a:ext>
            </a:extLst>
          </p:cNvPr>
          <p:cNvSpPr/>
          <p:nvPr/>
        </p:nvSpPr>
        <p:spPr>
          <a:xfrm>
            <a:off x="7049769" y="6155477"/>
            <a:ext cx="4602107" cy="60307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u="sng" dirty="0">
                <a:solidFill>
                  <a:schemeClr val="tx2">
                    <a:lumMod val="50000"/>
                  </a:schemeClr>
                </a:solidFill>
              </a:rPr>
              <a:t>https://youtube.com/playlist?list=PLZghJ684ztTeF9GQ2ZqvPMktYVlb5e7lk&amp;si=yODhyAmdDXDmYw-V</a:t>
            </a:r>
          </a:p>
        </p:txBody>
      </p: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56EF4108-39C3-EF16-7C99-535B3BDE79BD}"/>
              </a:ext>
            </a:extLst>
          </p:cNvPr>
          <p:cNvCxnSpPr>
            <a:cxnSpLocks/>
          </p:cNvCxnSpPr>
          <p:nvPr/>
        </p:nvCxnSpPr>
        <p:spPr>
          <a:xfrm rot="5400000">
            <a:off x="11374329" y="6032321"/>
            <a:ext cx="646329" cy="43261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AC1C70D8-E096-21BC-7CC0-7652F02CEE4E}"/>
              </a:ext>
            </a:extLst>
          </p:cNvPr>
          <p:cNvSpPr/>
          <p:nvPr/>
        </p:nvSpPr>
        <p:spPr>
          <a:xfrm>
            <a:off x="-299977" y="735839"/>
            <a:ext cx="6804000" cy="47849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b="1" dirty="0">
                <a:solidFill>
                  <a:schemeClr val="accent2">
                    <a:lumMod val="50000"/>
                  </a:schemeClr>
                </a:solidFill>
                <a:latin typeface="Kristen ITC" panose="03050502040202030202" pitchFamily="66" charset="0"/>
                <a:ea typeface="ＭＳ Ｐゴシック" pitchFamily="1" charset="-128"/>
              </a:rPr>
              <a:t>Detailed explanation of proposed solution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A8FC6A-6C03-7EB2-6F9E-7305BA9975D5}"/>
              </a:ext>
            </a:extLst>
          </p:cNvPr>
          <p:cNvSpPr txBox="1">
            <a:spLocks/>
          </p:cNvSpPr>
          <p:nvPr/>
        </p:nvSpPr>
        <p:spPr bwMode="auto">
          <a:xfrm>
            <a:off x="0" y="58370"/>
            <a:ext cx="12192000" cy="756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lvl="0" defTabSz="914400"/>
            <a:r>
              <a:rPr lang="en-US" altLang="en-US" sz="4000" b="1" dirty="0" err="1">
                <a:solidFill>
                  <a:schemeClr val="tx2">
                    <a:lumMod val="50000"/>
                  </a:schemeClr>
                </a:solidFill>
                <a:latin typeface="Garamond" panose="02020404030301010803" pitchFamily="18" charset="0"/>
              </a:rPr>
              <a:t>AttendSmart</a:t>
            </a:r>
            <a:endParaRPr lang="en-US" altLang="en-US" sz="3600" b="1" dirty="0">
              <a:solidFill>
                <a:schemeClr val="tx2">
                  <a:lumMod val="50000"/>
                </a:schemeClr>
              </a:solidFill>
              <a:latin typeface="Cinzel" pitchFamily="2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https://www.sih.gov.in/img1/SIH-Logo.png">
            <a:extLst>
              <a:ext uri="{FF2B5EF4-FFF2-40B4-BE49-F238E27FC236}">
                <a16:creationId xmlns:a16="http://schemas.microsoft.com/office/drawing/2014/main" id="{648DAC03-3725-31D8-B6E6-0B026C22E5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7751" y="-52800"/>
            <a:ext cx="1862735" cy="946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AA4831CB-F81D-AA14-4A82-C336927374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41648"/>
            <a:ext cx="1175222" cy="75791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Attend Smart</a:t>
            </a:r>
            <a:endParaRPr lang="en-IN" sz="1600" b="1" dirty="0">
              <a:solidFill>
                <a:schemeClr val="tx1"/>
              </a:solidFill>
            </a:endParaRP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D8DCF592-5E28-9C21-210B-D24B9A10D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603" y="1234960"/>
            <a:ext cx="342914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1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Kristen ITC" panose="03050502040202030202" pitchFamily="66" charset="0"/>
              </a:rPr>
              <a:t>Problem Statement: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04B56D-EAA3-1F8D-2212-A0C5F1901898}"/>
              </a:ext>
            </a:extLst>
          </p:cNvPr>
          <p:cNvSpPr txBox="1"/>
          <p:nvPr/>
        </p:nvSpPr>
        <p:spPr>
          <a:xfrm>
            <a:off x="6668699" y="1595596"/>
            <a:ext cx="5195346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5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We propose a </a:t>
            </a:r>
            <a:r>
              <a:rPr lang="en-US" sz="1650" b="1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proxy-proof attendance system</a:t>
            </a:r>
            <a:r>
              <a:rPr lang="en-US" sz="165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 that uses a mobile app for multi-factor verification: </a:t>
            </a:r>
            <a:r>
              <a:rPr lang="en-US" sz="1650" b="1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face liveness, BLE proximity, and barometer</a:t>
            </a:r>
            <a:r>
              <a:rPr lang="en-US" sz="165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checks. It features a live teacher dashboard, operates </a:t>
            </a:r>
          </a:p>
          <a:p>
            <a:pPr>
              <a:buNone/>
            </a:pPr>
            <a:r>
              <a:rPr lang="en-US" sz="1650" b="1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100% offline</a:t>
            </a:r>
            <a:r>
              <a:rPr lang="en-US" sz="165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 to ensure privacy and accuracy, and completely </a:t>
            </a:r>
            <a:r>
              <a:rPr lang="en-US" sz="1650" b="1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eliminates proxy</a:t>
            </a:r>
            <a:r>
              <a:rPr lang="en-US" sz="165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attendance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3B2CEF-06E1-7E9F-51A9-ECC181816350}"/>
              </a:ext>
            </a:extLst>
          </p:cNvPr>
          <p:cNvSpPr txBox="1"/>
          <p:nvPr/>
        </p:nvSpPr>
        <p:spPr>
          <a:xfrm>
            <a:off x="6414925" y="1148346"/>
            <a:ext cx="323009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Kristen ITC" panose="03050502040202030202" pitchFamily="66" charset="0"/>
              </a:rPr>
              <a:t>Proposed</a:t>
            </a:r>
            <a:r>
              <a:rPr lang="en-IN" sz="2500" b="1" dirty="0">
                <a:solidFill>
                  <a:schemeClr val="bg1"/>
                </a:solidFill>
                <a:latin typeface="Kristen ITC" panose="03050502040202030202" pitchFamily="66" charset="0"/>
              </a:rPr>
              <a:t> </a:t>
            </a:r>
            <a:r>
              <a:rPr lang="en-IN" sz="2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Kristen ITC" panose="03050502040202030202" pitchFamily="66" charset="0"/>
              </a:rPr>
              <a:t>Solution:</a:t>
            </a:r>
          </a:p>
        </p:txBody>
      </p:sp>
      <p:sp>
        <p:nvSpPr>
          <p:cNvPr id="1796" name="Rectangle 12">
            <a:extLst>
              <a:ext uri="{FF2B5EF4-FFF2-40B4-BE49-F238E27FC236}">
                <a16:creationId xmlns:a16="http://schemas.microsoft.com/office/drawing/2014/main" id="{2DA57EDC-5529-4117-5DC2-41C761098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044" y="3427808"/>
            <a:ext cx="280717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1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Kristen ITC" panose="03050502040202030202" pitchFamily="66" charset="0"/>
              </a:rPr>
              <a:t>Authentications</a:t>
            </a:r>
          </a:p>
        </p:txBody>
      </p:sp>
      <p:pic>
        <p:nvPicPr>
          <p:cNvPr id="1836" name="Google Shape;875;p74">
            <a:extLst>
              <a:ext uri="{FF2B5EF4-FFF2-40B4-BE49-F238E27FC236}">
                <a16:creationId xmlns:a16="http://schemas.microsoft.com/office/drawing/2014/main" id="{DF648210-05B0-BF4A-C564-EE1B0535AC7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166882" y="1013688"/>
            <a:ext cx="1606565" cy="160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49;p78">
            <a:extLst>
              <a:ext uri="{FF2B5EF4-FFF2-40B4-BE49-F238E27FC236}">
                <a16:creationId xmlns:a16="http://schemas.microsoft.com/office/drawing/2014/main" id="{56D789D1-A69B-E0F4-DCF2-3C1634B67B76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672254" y="3668206"/>
            <a:ext cx="2316265" cy="1945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2" name="Picture 2941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03AED9F-4292-F3ED-2ABD-C66AA2450F8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0129" t="81398" r="48852" b="6032"/>
          <a:stretch>
            <a:fillRect/>
          </a:stretch>
        </p:blipFill>
        <p:spPr>
          <a:xfrm>
            <a:off x="2561992" y="5899929"/>
            <a:ext cx="2038301" cy="861993"/>
          </a:xfrm>
          <a:prstGeom prst="rect">
            <a:avLst/>
          </a:prstGeom>
        </p:spPr>
      </p:pic>
      <p:pic>
        <p:nvPicPr>
          <p:cNvPr id="2943" name="Picture 294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61626C7-74FA-FDE9-A054-F7227AF9F61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0129" t="69572" r="49839" b="18044"/>
          <a:stretch>
            <a:fillRect/>
          </a:stretch>
        </p:blipFill>
        <p:spPr>
          <a:xfrm>
            <a:off x="2058968" y="5060380"/>
            <a:ext cx="1989262" cy="849338"/>
          </a:xfrm>
          <a:prstGeom prst="rect">
            <a:avLst/>
          </a:prstGeom>
        </p:spPr>
      </p:pic>
      <p:pic>
        <p:nvPicPr>
          <p:cNvPr id="2945" name="Picture 294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0B06F350-11BA-24C3-39E7-0C2FE9C19C5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9225" t="45399" r="50549" b="42836"/>
          <a:stretch>
            <a:fillRect/>
          </a:stretch>
        </p:blipFill>
        <p:spPr>
          <a:xfrm>
            <a:off x="-89614" y="5092328"/>
            <a:ext cx="1998916" cy="806874"/>
          </a:xfrm>
          <a:prstGeom prst="rect">
            <a:avLst/>
          </a:prstGeom>
        </p:spPr>
      </p:pic>
      <p:pic>
        <p:nvPicPr>
          <p:cNvPr id="2946" name="Picture 294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F50B0F2-70A8-D42C-CA39-DCA8C2AAAE5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426" t="29164" r="48853" b="54290"/>
          <a:stretch>
            <a:fillRect/>
          </a:stretch>
        </p:blipFill>
        <p:spPr>
          <a:xfrm>
            <a:off x="2040897" y="3871752"/>
            <a:ext cx="2493909" cy="1218956"/>
          </a:xfrm>
          <a:prstGeom prst="rect">
            <a:avLst/>
          </a:prstGeom>
        </p:spPr>
      </p:pic>
      <p:pic>
        <p:nvPicPr>
          <p:cNvPr id="2947" name="Picture 294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3EA1360-2CD9-0260-175A-E6780CC6E5B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1005" r="48853" b="69693"/>
          <a:stretch>
            <a:fillRect/>
          </a:stretch>
        </p:blipFill>
        <p:spPr>
          <a:xfrm>
            <a:off x="-523484" y="3713530"/>
            <a:ext cx="2699964" cy="1406226"/>
          </a:xfrm>
          <a:prstGeom prst="rect">
            <a:avLst/>
          </a:prstGeom>
        </p:spPr>
      </p:pic>
      <p:sp>
        <p:nvSpPr>
          <p:cNvPr id="2948" name="Rectangle: Rounded Corners 2947">
            <a:extLst>
              <a:ext uri="{FF2B5EF4-FFF2-40B4-BE49-F238E27FC236}">
                <a16:creationId xmlns:a16="http://schemas.microsoft.com/office/drawing/2014/main" id="{9E2499C1-7BD2-0ED8-9C2D-F353F7803CE0}"/>
              </a:ext>
            </a:extLst>
          </p:cNvPr>
          <p:cNvSpPr/>
          <p:nvPr/>
        </p:nvSpPr>
        <p:spPr>
          <a:xfrm>
            <a:off x="0" y="5134313"/>
            <a:ext cx="4706667" cy="1697146"/>
          </a:xfrm>
          <a:prstGeom prst="roundRect">
            <a:avLst/>
          </a:prstGeom>
          <a:noFill/>
          <a:ln>
            <a:solidFill>
              <a:schemeClr val="accent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49" name="Rectangle: Rounded Corners 2948">
            <a:extLst>
              <a:ext uri="{FF2B5EF4-FFF2-40B4-BE49-F238E27FC236}">
                <a16:creationId xmlns:a16="http://schemas.microsoft.com/office/drawing/2014/main" id="{AC28FB66-2DD6-1CB3-FFE7-08F408CA031C}"/>
              </a:ext>
            </a:extLst>
          </p:cNvPr>
          <p:cNvSpPr/>
          <p:nvPr/>
        </p:nvSpPr>
        <p:spPr>
          <a:xfrm>
            <a:off x="0" y="3853149"/>
            <a:ext cx="4706667" cy="1256162"/>
          </a:xfrm>
          <a:prstGeom prst="roundRect">
            <a:avLst/>
          </a:prstGeom>
          <a:noFill/>
          <a:ln>
            <a:solidFill>
              <a:schemeClr val="accent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952" name="Straight Arrow Connector 2951">
            <a:extLst>
              <a:ext uri="{FF2B5EF4-FFF2-40B4-BE49-F238E27FC236}">
                <a16:creationId xmlns:a16="http://schemas.microsoft.com/office/drawing/2014/main" id="{4CDED161-538F-FA73-197B-A2512B94C960}"/>
              </a:ext>
            </a:extLst>
          </p:cNvPr>
          <p:cNvCxnSpPr>
            <a:cxnSpLocks/>
          </p:cNvCxnSpPr>
          <p:nvPr/>
        </p:nvCxnSpPr>
        <p:spPr>
          <a:xfrm flipV="1">
            <a:off x="4706667" y="6006463"/>
            <a:ext cx="206314" cy="3845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5" name="Straight Arrow Connector 2954">
            <a:extLst>
              <a:ext uri="{FF2B5EF4-FFF2-40B4-BE49-F238E27FC236}">
                <a16:creationId xmlns:a16="http://schemas.microsoft.com/office/drawing/2014/main" id="{6B6EC1BD-D7E8-EE31-90B0-1F3243A7A06C}"/>
              </a:ext>
            </a:extLst>
          </p:cNvPr>
          <p:cNvCxnSpPr>
            <a:cxnSpLocks/>
          </p:cNvCxnSpPr>
          <p:nvPr/>
        </p:nvCxnSpPr>
        <p:spPr>
          <a:xfrm flipV="1">
            <a:off x="4752275" y="4574815"/>
            <a:ext cx="206314" cy="3845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56" name="Rectangle 12">
            <a:extLst>
              <a:ext uri="{FF2B5EF4-FFF2-40B4-BE49-F238E27FC236}">
                <a16:creationId xmlns:a16="http://schemas.microsoft.com/office/drawing/2014/main" id="{EB7C7EC1-3877-1F57-D6D1-705A06B81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1646" y="4378605"/>
            <a:ext cx="11304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Kristen ITC" panose="03050502040202030202" pitchFamily="66" charset="0"/>
              </a:rPr>
              <a:t>Primary</a:t>
            </a:r>
          </a:p>
        </p:txBody>
      </p:sp>
      <p:sp>
        <p:nvSpPr>
          <p:cNvPr id="2957" name="Rectangle 12">
            <a:extLst>
              <a:ext uri="{FF2B5EF4-FFF2-40B4-BE49-F238E27FC236}">
                <a16:creationId xmlns:a16="http://schemas.microsoft.com/office/drawing/2014/main" id="{88B5BB69-D20C-E7E9-A292-872B5CEBB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9414" y="5671767"/>
            <a:ext cx="13580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Kristen ITC" panose="03050502040202030202" pitchFamily="66" charset="0"/>
              </a:rPr>
              <a:t>Secondary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Kristen ITC" panose="03050502040202030202" pitchFamily="66" charset="0"/>
              </a:rPr>
              <a:t>Fallbacks</a:t>
            </a:r>
            <a:endParaRPr kumimoji="0" lang="en-US" altLang="en-US" b="1" u="none" strike="noStrike" cap="none" normalizeH="0" baseline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Kristen ITC" panose="03050502040202030202" pitchFamily="66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AC4BA-75E3-4185-BBBD-F7D57360A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diagram of a process&#10;&#10;AI-generated content may be incorrect.">
            <a:extLst>
              <a:ext uri="{FF2B5EF4-FFF2-40B4-BE49-F238E27FC236}">
                <a16:creationId xmlns:a16="http://schemas.microsoft.com/office/drawing/2014/main" id="{D0A6D0B9-0266-63A5-DCE8-916D739C14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071"/>
          <a:stretch>
            <a:fillRect/>
          </a:stretch>
        </p:blipFill>
        <p:spPr>
          <a:xfrm>
            <a:off x="196851" y="827840"/>
            <a:ext cx="11798298" cy="6030160"/>
          </a:xfrm>
          <a:prstGeom prst="rect">
            <a:avLst/>
          </a:prstGeom>
        </p:spPr>
      </p:pic>
      <p:pic>
        <p:nvPicPr>
          <p:cNvPr id="9" name="Picture 2" descr="https://www.sih.gov.in/img1/SIH-Logo.png">
            <a:extLst>
              <a:ext uri="{FF2B5EF4-FFF2-40B4-BE49-F238E27FC236}">
                <a16:creationId xmlns:a16="http://schemas.microsoft.com/office/drawing/2014/main" id="{85A3394D-F3CE-7A97-B6F1-CBB116CDF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7751" y="-24519"/>
            <a:ext cx="1862735" cy="946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FC6AF545-B4AF-5433-9363-6DBFF97DA2C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69929"/>
            <a:ext cx="1175222" cy="75791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Attend Smart</a:t>
            </a:r>
            <a:endParaRPr lang="en-IN" sz="1600" b="1" dirty="0">
              <a:solidFill>
                <a:schemeClr val="tx1"/>
              </a:solidFill>
            </a:endParaRPr>
          </a:p>
        </p:txBody>
      </p:sp>
      <p:sp>
        <p:nvSpPr>
          <p:cNvPr id="17612" name="Freeform: Shape 17611">
            <a:extLst>
              <a:ext uri="{FF2B5EF4-FFF2-40B4-BE49-F238E27FC236}">
                <a16:creationId xmlns:a16="http://schemas.microsoft.com/office/drawing/2014/main" id="{46D866B9-2970-C29C-85B0-7EDD739FA277}"/>
              </a:ext>
            </a:extLst>
          </p:cNvPr>
          <p:cNvSpPr/>
          <p:nvPr/>
        </p:nvSpPr>
        <p:spPr>
          <a:xfrm>
            <a:off x="11611426" y="6585418"/>
            <a:ext cx="809291" cy="90263"/>
          </a:xfrm>
          <a:custGeom>
            <a:avLst/>
            <a:gdLst>
              <a:gd name="connsiteX0" fmla="*/ 461716 w 809291"/>
              <a:gd name="connsiteY0" fmla="*/ 89199 h 90263"/>
              <a:gd name="connsiteX1" fmla="*/ 464946 w 809291"/>
              <a:gd name="connsiteY1" fmla="*/ 91049 h 90263"/>
              <a:gd name="connsiteX2" fmla="*/ 466108 w 809291"/>
              <a:gd name="connsiteY2" fmla="*/ 90380 h 90263"/>
              <a:gd name="connsiteX3" fmla="*/ 505233 w 809291"/>
              <a:gd name="connsiteY3" fmla="*/ 51721 h 90263"/>
              <a:gd name="connsiteX4" fmla="*/ 458738 w 809291"/>
              <a:gd name="connsiteY4" fmla="*/ 78213 h 90263"/>
              <a:gd name="connsiteX5" fmla="*/ 461716 w 809291"/>
              <a:gd name="connsiteY5" fmla="*/ 89199 h 90263"/>
              <a:gd name="connsiteX6" fmla="*/ 445052 w 809291"/>
              <a:gd name="connsiteY6" fmla="*/ 1218 h 90263"/>
              <a:gd name="connsiteX7" fmla="*/ 441467 w 809291"/>
              <a:gd name="connsiteY7" fmla="*/ 2217 h 90263"/>
              <a:gd name="connsiteX8" fmla="*/ 441127 w 809291"/>
              <a:gd name="connsiteY8" fmla="*/ 3512 h 90263"/>
              <a:gd name="connsiteX9" fmla="*/ 441127 w 809291"/>
              <a:gd name="connsiteY9" fmla="*/ 26906 h 90263"/>
              <a:gd name="connsiteX10" fmla="*/ 465762 w 809291"/>
              <a:gd name="connsiteY10" fmla="*/ 12859 h 90263"/>
              <a:gd name="connsiteX11" fmla="*/ 445052 w 809291"/>
              <a:gd name="connsiteY11" fmla="*/ 1218 h 90263"/>
              <a:gd name="connsiteX12" fmla="*/ 473086 w 809291"/>
              <a:gd name="connsiteY12" fmla="*/ 17047 h 90263"/>
              <a:gd name="connsiteX13" fmla="*/ 441127 w 809291"/>
              <a:gd name="connsiteY13" fmla="*/ 35253 h 90263"/>
              <a:gd name="connsiteX14" fmla="*/ 441127 w 809291"/>
              <a:gd name="connsiteY14" fmla="*/ 53638 h 90263"/>
              <a:gd name="connsiteX15" fmla="*/ 489186 w 809291"/>
              <a:gd name="connsiteY15" fmla="*/ 26236 h 90263"/>
              <a:gd name="connsiteX16" fmla="*/ 473086 w 809291"/>
              <a:gd name="connsiteY16" fmla="*/ 17047 h 90263"/>
              <a:gd name="connsiteX17" fmla="*/ 508489 w 809291"/>
              <a:gd name="connsiteY17" fmla="*/ 41885 h 90263"/>
              <a:gd name="connsiteX18" fmla="*/ 509481 w 809291"/>
              <a:gd name="connsiteY18" fmla="*/ 38297 h 90263"/>
              <a:gd name="connsiteX19" fmla="*/ 508489 w 809291"/>
              <a:gd name="connsiteY19" fmla="*/ 37305 h 90263"/>
              <a:gd name="connsiteX20" fmla="*/ 496517 w 809291"/>
              <a:gd name="connsiteY20" fmla="*/ 30538 h 90263"/>
              <a:gd name="connsiteX21" fmla="*/ 441135 w 809291"/>
              <a:gd name="connsiteY21" fmla="*/ 62113 h 90263"/>
              <a:gd name="connsiteX22" fmla="*/ 441135 w 809291"/>
              <a:gd name="connsiteY22" fmla="*/ 75513 h 90263"/>
              <a:gd name="connsiteX23" fmla="*/ 443761 w 809291"/>
              <a:gd name="connsiteY23" fmla="*/ 78150 h 90263"/>
              <a:gd name="connsiteX24" fmla="*/ 445067 w 809291"/>
              <a:gd name="connsiteY24" fmla="*/ 77807 h 90263"/>
              <a:gd name="connsiteX25" fmla="*/ 508496 w 809291"/>
              <a:gd name="connsiteY25" fmla="*/ 41885 h 90263"/>
              <a:gd name="connsiteX26" fmla="*/ 305749 w 809291"/>
              <a:gd name="connsiteY26" fmla="*/ 12167 h 90263"/>
              <a:gd name="connsiteX27" fmla="*/ 311705 w 809291"/>
              <a:gd name="connsiteY27" fmla="*/ 6279 h 90263"/>
              <a:gd name="connsiteX28" fmla="*/ 317660 w 809291"/>
              <a:gd name="connsiteY28" fmla="*/ 12167 h 90263"/>
              <a:gd name="connsiteX29" fmla="*/ 311705 w 809291"/>
              <a:gd name="connsiteY29" fmla="*/ 18055 h 90263"/>
              <a:gd name="connsiteX30" fmla="*/ 305749 w 809291"/>
              <a:gd name="connsiteY30" fmla="*/ 12167 h 90263"/>
              <a:gd name="connsiteX31" fmla="*/ 750700 w 809291"/>
              <a:gd name="connsiteY31" fmla="*/ 12167 h 90263"/>
              <a:gd name="connsiteX32" fmla="*/ 756655 w 809291"/>
              <a:gd name="connsiteY32" fmla="*/ 6279 h 90263"/>
              <a:gd name="connsiteX33" fmla="*/ 762611 w 809291"/>
              <a:gd name="connsiteY33" fmla="*/ 12167 h 90263"/>
              <a:gd name="connsiteX34" fmla="*/ 756655 w 809291"/>
              <a:gd name="connsiteY34" fmla="*/ 18055 h 90263"/>
              <a:gd name="connsiteX35" fmla="*/ 750700 w 809291"/>
              <a:gd name="connsiteY35" fmla="*/ 12167 h 90263"/>
              <a:gd name="connsiteX36" fmla="*/ 104371 w 809291"/>
              <a:gd name="connsiteY36" fmla="*/ 69588 h 90263"/>
              <a:gd name="connsiteX37" fmla="*/ 94821 w 809291"/>
              <a:gd name="connsiteY37" fmla="*/ 69588 h 90263"/>
              <a:gd name="connsiteX38" fmla="*/ 94821 w 809291"/>
              <a:gd name="connsiteY38" fmla="*/ 65926 h 90263"/>
              <a:gd name="connsiteX39" fmla="*/ 80676 w 809291"/>
              <a:gd name="connsiteY39" fmla="*/ 70505 h 90263"/>
              <a:gd name="connsiteX40" fmla="*/ 64606 w 809291"/>
              <a:gd name="connsiteY40" fmla="*/ 54879 h 90263"/>
              <a:gd name="connsiteX41" fmla="*/ 78503 w 809291"/>
              <a:gd name="connsiteY41" fmla="*/ 41892 h 90263"/>
              <a:gd name="connsiteX42" fmla="*/ 94821 w 809291"/>
              <a:gd name="connsiteY42" fmla="*/ 39298 h 90263"/>
              <a:gd name="connsiteX43" fmla="*/ 86820 w 809291"/>
              <a:gd name="connsiteY43" fmla="*/ 31733 h 90263"/>
              <a:gd name="connsiteX44" fmla="*/ 75006 w 809291"/>
              <a:gd name="connsiteY44" fmla="*/ 39381 h 90263"/>
              <a:gd name="connsiteX45" fmla="*/ 66554 w 809291"/>
              <a:gd name="connsiteY45" fmla="*/ 34831 h 90263"/>
              <a:gd name="connsiteX46" fmla="*/ 104371 w 809291"/>
              <a:gd name="connsiteY46" fmla="*/ 37945 h 90263"/>
              <a:gd name="connsiteX47" fmla="*/ 104371 w 809291"/>
              <a:gd name="connsiteY47" fmla="*/ 69580 h 90263"/>
              <a:gd name="connsiteX48" fmla="*/ 94821 w 809291"/>
              <a:gd name="connsiteY48" fmla="*/ 48081 h 90263"/>
              <a:gd name="connsiteX49" fmla="*/ 88662 w 809291"/>
              <a:gd name="connsiteY49" fmla="*/ 60038 h 90263"/>
              <a:gd name="connsiteX50" fmla="*/ 74352 w 809291"/>
              <a:gd name="connsiteY50" fmla="*/ 57067 h 90263"/>
              <a:gd name="connsiteX51" fmla="*/ 81165 w 809291"/>
              <a:gd name="connsiteY51" fmla="*/ 50315 h 90263"/>
              <a:gd name="connsiteX52" fmla="*/ 94821 w 809291"/>
              <a:gd name="connsiteY52" fmla="*/ 48081 h 90263"/>
              <a:gd name="connsiteX53" fmla="*/ 641220 w 809291"/>
              <a:gd name="connsiteY53" fmla="*/ 69588 h 90263"/>
              <a:gd name="connsiteX54" fmla="*/ 631670 w 809291"/>
              <a:gd name="connsiteY54" fmla="*/ 69588 h 90263"/>
              <a:gd name="connsiteX55" fmla="*/ 631670 w 809291"/>
              <a:gd name="connsiteY55" fmla="*/ 65926 h 90263"/>
              <a:gd name="connsiteX56" fmla="*/ 617525 w 809291"/>
              <a:gd name="connsiteY56" fmla="*/ 70505 h 90263"/>
              <a:gd name="connsiteX57" fmla="*/ 601455 w 809291"/>
              <a:gd name="connsiteY57" fmla="*/ 54879 h 90263"/>
              <a:gd name="connsiteX58" fmla="*/ 615352 w 809291"/>
              <a:gd name="connsiteY58" fmla="*/ 41892 h 90263"/>
              <a:gd name="connsiteX59" fmla="*/ 631670 w 809291"/>
              <a:gd name="connsiteY59" fmla="*/ 39298 h 90263"/>
              <a:gd name="connsiteX60" fmla="*/ 623669 w 809291"/>
              <a:gd name="connsiteY60" fmla="*/ 31733 h 90263"/>
              <a:gd name="connsiteX61" fmla="*/ 611855 w 809291"/>
              <a:gd name="connsiteY61" fmla="*/ 39381 h 90263"/>
              <a:gd name="connsiteX62" fmla="*/ 603403 w 809291"/>
              <a:gd name="connsiteY62" fmla="*/ 34831 h 90263"/>
              <a:gd name="connsiteX63" fmla="*/ 641220 w 809291"/>
              <a:gd name="connsiteY63" fmla="*/ 37945 h 90263"/>
              <a:gd name="connsiteX64" fmla="*/ 641220 w 809291"/>
              <a:gd name="connsiteY64" fmla="*/ 69580 h 90263"/>
              <a:gd name="connsiteX65" fmla="*/ 631670 w 809291"/>
              <a:gd name="connsiteY65" fmla="*/ 48081 h 90263"/>
              <a:gd name="connsiteX66" fmla="*/ 625504 w 809291"/>
              <a:gd name="connsiteY66" fmla="*/ 60038 h 90263"/>
              <a:gd name="connsiteX67" fmla="*/ 611193 w 809291"/>
              <a:gd name="connsiteY67" fmla="*/ 57067 h 90263"/>
              <a:gd name="connsiteX68" fmla="*/ 618006 w 809291"/>
              <a:gd name="connsiteY68" fmla="*/ 50315 h 90263"/>
              <a:gd name="connsiteX69" fmla="*/ 631662 w 809291"/>
              <a:gd name="connsiteY69" fmla="*/ 48081 h 90263"/>
              <a:gd name="connsiteX70" fmla="*/ 715981 w 809291"/>
              <a:gd name="connsiteY70" fmla="*/ 69588 h 90263"/>
              <a:gd name="connsiteX71" fmla="*/ 706611 w 809291"/>
              <a:gd name="connsiteY71" fmla="*/ 69588 h 90263"/>
              <a:gd name="connsiteX72" fmla="*/ 706611 w 809291"/>
              <a:gd name="connsiteY72" fmla="*/ 6046 h 90263"/>
              <a:gd name="connsiteX73" fmla="*/ 715981 w 809291"/>
              <a:gd name="connsiteY73" fmla="*/ 6046 h 90263"/>
              <a:gd name="connsiteX74" fmla="*/ 715981 w 809291"/>
              <a:gd name="connsiteY74" fmla="*/ 42855 h 90263"/>
              <a:gd name="connsiteX75" fmla="*/ 736134 w 809291"/>
              <a:gd name="connsiteY75" fmla="*/ 23612 h 90263"/>
              <a:gd name="connsiteX76" fmla="*/ 749203 w 809291"/>
              <a:gd name="connsiteY76" fmla="*/ 23612 h 90263"/>
              <a:gd name="connsiteX77" fmla="*/ 729404 w 809291"/>
              <a:gd name="connsiteY77" fmla="*/ 42675 h 90263"/>
              <a:gd name="connsiteX78" fmla="*/ 749820 w 809291"/>
              <a:gd name="connsiteY78" fmla="*/ 69580 h 90263"/>
              <a:gd name="connsiteX79" fmla="*/ 738119 w 809291"/>
              <a:gd name="connsiteY79" fmla="*/ 69580 h 90263"/>
              <a:gd name="connsiteX80" fmla="*/ 722501 w 809291"/>
              <a:gd name="connsiteY80" fmla="*/ 49224 h 90263"/>
              <a:gd name="connsiteX81" fmla="*/ 715981 w 809291"/>
              <a:gd name="connsiteY81" fmla="*/ 55571 h 90263"/>
              <a:gd name="connsiteX82" fmla="*/ 715981 w 809291"/>
              <a:gd name="connsiteY82" fmla="*/ 69580 h 90263"/>
              <a:gd name="connsiteX83" fmla="*/ 761498 w 809291"/>
              <a:gd name="connsiteY83" fmla="*/ 23612 h 90263"/>
              <a:gd name="connsiteX84" fmla="*/ 752061 w 809291"/>
              <a:gd name="connsiteY84" fmla="*/ 23612 h 90263"/>
              <a:gd name="connsiteX85" fmla="*/ 752061 w 809291"/>
              <a:gd name="connsiteY85" fmla="*/ 69580 h 90263"/>
              <a:gd name="connsiteX86" fmla="*/ 761498 w 809291"/>
              <a:gd name="connsiteY86" fmla="*/ 69580 h 90263"/>
              <a:gd name="connsiteX87" fmla="*/ 761498 w 809291"/>
              <a:gd name="connsiteY87" fmla="*/ 23612 h 90263"/>
              <a:gd name="connsiteX88" fmla="*/ 316329 w 809291"/>
              <a:gd name="connsiteY88" fmla="*/ 23612 h 90263"/>
              <a:gd name="connsiteX89" fmla="*/ 306892 w 809291"/>
              <a:gd name="connsiteY89" fmla="*/ 23612 h 90263"/>
              <a:gd name="connsiteX90" fmla="*/ 306892 w 809291"/>
              <a:gd name="connsiteY90" fmla="*/ 69580 h 90263"/>
              <a:gd name="connsiteX91" fmla="*/ 316329 w 809291"/>
              <a:gd name="connsiteY91" fmla="*/ 69580 h 90263"/>
              <a:gd name="connsiteX92" fmla="*/ 316329 w 809291"/>
              <a:gd name="connsiteY92" fmla="*/ 23612 h 90263"/>
              <a:gd name="connsiteX93" fmla="*/ 358320 w 809291"/>
              <a:gd name="connsiteY93" fmla="*/ 69580 h 90263"/>
              <a:gd name="connsiteX94" fmla="*/ 358320 w 809291"/>
              <a:gd name="connsiteY94" fmla="*/ 6031 h 90263"/>
              <a:gd name="connsiteX95" fmla="*/ 367757 w 809291"/>
              <a:gd name="connsiteY95" fmla="*/ 6031 h 90263"/>
              <a:gd name="connsiteX96" fmla="*/ 367757 w 809291"/>
              <a:gd name="connsiteY96" fmla="*/ 26297 h 90263"/>
              <a:gd name="connsiteX97" fmla="*/ 378811 w 809291"/>
              <a:gd name="connsiteY97" fmla="*/ 22649 h 90263"/>
              <a:gd name="connsiteX98" fmla="*/ 397287 w 809291"/>
              <a:gd name="connsiteY98" fmla="*/ 41058 h 90263"/>
              <a:gd name="connsiteX99" fmla="*/ 397287 w 809291"/>
              <a:gd name="connsiteY99" fmla="*/ 69573 h 90263"/>
              <a:gd name="connsiteX100" fmla="*/ 387737 w 809291"/>
              <a:gd name="connsiteY100" fmla="*/ 69573 h 90263"/>
              <a:gd name="connsiteX101" fmla="*/ 387737 w 809291"/>
              <a:gd name="connsiteY101" fmla="*/ 41900 h 90263"/>
              <a:gd name="connsiteX102" fmla="*/ 377848 w 809291"/>
              <a:gd name="connsiteY102" fmla="*/ 31831 h 90263"/>
              <a:gd name="connsiteX103" fmla="*/ 367757 w 809291"/>
              <a:gd name="connsiteY103" fmla="*/ 41900 h 90263"/>
              <a:gd name="connsiteX104" fmla="*/ 367757 w 809291"/>
              <a:gd name="connsiteY104" fmla="*/ 69580 h 90263"/>
              <a:gd name="connsiteX105" fmla="*/ 358320 w 809291"/>
              <a:gd name="connsiteY105" fmla="*/ 69580 h 90263"/>
              <a:gd name="connsiteX106" fmla="*/ 322526 w 809291"/>
              <a:gd name="connsiteY106" fmla="*/ 32779 h 90263"/>
              <a:gd name="connsiteX107" fmla="*/ 322526 w 809291"/>
              <a:gd name="connsiteY107" fmla="*/ 23642 h 90263"/>
              <a:gd name="connsiteX108" fmla="*/ 327196 w 809291"/>
              <a:gd name="connsiteY108" fmla="*/ 23642 h 90263"/>
              <a:gd name="connsiteX109" fmla="*/ 330579 w 809291"/>
              <a:gd name="connsiteY109" fmla="*/ 20258 h 90263"/>
              <a:gd name="connsiteX110" fmla="*/ 330579 w 809291"/>
              <a:gd name="connsiteY110" fmla="*/ 13829 h 90263"/>
              <a:gd name="connsiteX111" fmla="*/ 339987 w 809291"/>
              <a:gd name="connsiteY111" fmla="*/ 13829 h 90263"/>
              <a:gd name="connsiteX112" fmla="*/ 339987 w 809291"/>
              <a:gd name="connsiteY112" fmla="*/ 23642 h 90263"/>
              <a:gd name="connsiteX113" fmla="*/ 349830 w 809291"/>
              <a:gd name="connsiteY113" fmla="*/ 23642 h 90263"/>
              <a:gd name="connsiteX114" fmla="*/ 349830 w 809291"/>
              <a:gd name="connsiteY114" fmla="*/ 32779 h 90263"/>
              <a:gd name="connsiteX115" fmla="*/ 339987 w 809291"/>
              <a:gd name="connsiteY115" fmla="*/ 32779 h 90263"/>
              <a:gd name="connsiteX116" fmla="*/ 339987 w 809291"/>
              <a:gd name="connsiteY116" fmla="*/ 56157 h 90263"/>
              <a:gd name="connsiteX117" fmla="*/ 344859 w 809291"/>
              <a:gd name="connsiteY117" fmla="*/ 61151 h 90263"/>
              <a:gd name="connsiteX118" fmla="*/ 350394 w 809291"/>
              <a:gd name="connsiteY118" fmla="*/ 60624 h 90263"/>
              <a:gd name="connsiteX119" fmla="*/ 350394 w 809291"/>
              <a:gd name="connsiteY119" fmla="*/ 69174 h 90263"/>
              <a:gd name="connsiteX120" fmla="*/ 343949 w 809291"/>
              <a:gd name="connsiteY120" fmla="*/ 70024 h 90263"/>
              <a:gd name="connsiteX121" fmla="*/ 330587 w 809291"/>
              <a:gd name="connsiteY121" fmla="*/ 56579 h 90263"/>
              <a:gd name="connsiteX122" fmla="*/ 330587 w 809291"/>
              <a:gd name="connsiteY122" fmla="*/ 32779 h 90263"/>
              <a:gd name="connsiteX123" fmla="*/ 322533 w 809291"/>
              <a:gd name="connsiteY123" fmla="*/ 32779 h 90263"/>
              <a:gd name="connsiteX124" fmla="*/ 245486 w 809291"/>
              <a:gd name="connsiteY124" fmla="*/ 23642 h 90263"/>
              <a:gd name="connsiteX125" fmla="*/ 235003 w 809291"/>
              <a:gd name="connsiteY125" fmla="*/ 23642 h 90263"/>
              <a:gd name="connsiteX126" fmla="*/ 251479 w 809291"/>
              <a:gd name="connsiteY126" fmla="*/ 69558 h 90263"/>
              <a:gd name="connsiteX127" fmla="*/ 259939 w 809291"/>
              <a:gd name="connsiteY127" fmla="*/ 69558 h 90263"/>
              <a:gd name="connsiteX128" fmla="*/ 269218 w 809291"/>
              <a:gd name="connsiteY128" fmla="*/ 40095 h 90263"/>
              <a:gd name="connsiteX129" fmla="*/ 278528 w 809291"/>
              <a:gd name="connsiteY129" fmla="*/ 69558 h 90263"/>
              <a:gd name="connsiteX130" fmla="*/ 287018 w 809291"/>
              <a:gd name="connsiteY130" fmla="*/ 69558 h 90263"/>
              <a:gd name="connsiteX131" fmla="*/ 303471 w 809291"/>
              <a:gd name="connsiteY131" fmla="*/ 23642 h 90263"/>
              <a:gd name="connsiteX132" fmla="*/ 293071 w 809291"/>
              <a:gd name="connsiteY132" fmla="*/ 23642 h 90263"/>
              <a:gd name="connsiteX133" fmla="*/ 282852 w 809291"/>
              <a:gd name="connsiteY133" fmla="*/ 53195 h 90263"/>
              <a:gd name="connsiteX134" fmla="*/ 273407 w 809291"/>
              <a:gd name="connsiteY134" fmla="*/ 23642 h 90263"/>
              <a:gd name="connsiteX135" fmla="*/ 264955 w 809291"/>
              <a:gd name="connsiteY135" fmla="*/ 23642 h 90263"/>
              <a:gd name="connsiteX136" fmla="*/ 255615 w 809291"/>
              <a:gd name="connsiteY136" fmla="*/ 53398 h 90263"/>
              <a:gd name="connsiteX137" fmla="*/ 245479 w 809291"/>
              <a:gd name="connsiteY137" fmla="*/ 23642 h 90263"/>
              <a:gd name="connsiteX138" fmla="*/ 167912 w 809291"/>
              <a:gd name="connsiteY138" fmla="*/ 46968 h 90263"/>
              <a:gd name="connsiteX139" fmla="*/ 192149 w 809291"/>
              <a:gd name="connsiteY139" fmla="*/ 70498 h 90263"/>
              <a:gd name="connsiteX140" fmla="*/ 212707 w 809291"/>
              <a:gd name="connsiteY140" fmla="*/ 57571 h 90263"/>
              <a:gd name="connsiteX141" fmla="*/ 205210 w 809291"/>
              <a:gd name="connsiteY141" fmla="*/ 53428 h 90263"/>
              <a:gd name="connsiteX142" fmla="*/ 192141 w 809291"/>
              <a:gd name="connsiteY142" fmla="*/ 61654 h 90263"/>
              <a:gd name="connsiteX143" fmla="*/ 177921 w 809291"/>
              <a:gd name="connsiteY143" fmla="*/ 50224 h 90263"/>
              <a:gd name="connsiteX144" fmla="*/ 212700 w 809291"/>
              <a:gd name="connsiteY144" fmla="*/ 50224 h 90263"/>
              <a:gd name="connsiteX145" fmla="*/ 212474 w 809291"/>
              <a:gd name="connsiteY145" fmla="*/ 38501 h 90263"/>
              <a:gd name="connsiteX146" fmla="*/ 191126 w 809291"/>
              <a:gd name="connsiteY146" fmla="*/ 22695 h 90263"/>
              <a:gd name="connsiteX147" fmla="*/ 167905 w 809291"/>
              <a:gd name="connsiteY147" fmla="*/ 46961 h 90263"/>
              <a:gd name="connsiteX148" fmla="*/ 178162 w 809291"/>
              <a:gd name="connsiteY148" fmla="*/ 41328 h 90263"/>
              <a:gd name="connsiteX149" fmla="*/ 203338 w 809291"/>
              <a:gd name="connsiteY149" fmla="*/ 41328 h 90263"/>
              <a:gd name="connsiteX150" fmla="*/ 191133 w 809291"/>
              <a:gd name="connsiteY150" fmla="*/ 31545 h 90263"/>
              <a:gd name="connsiteX151" fmla="*/ 178162 w 809291"/>
              <a:gd name="connsiteY151" fmla="*/ 41328 h 90263"/>
              <a:gd name="connsiteX152" fmla="*/ 112304 w 809291"/>
              <a:gd name="connsiteY152" fmla="*/ 46968 h 90263"/>
              <a:gd name="connsiteX153" fmla="*/ 135954 w 809291"/>
              <a:gd name="connsiteY153" fmla="*/ 70528 h 90263"/>
              <a:gd name="connsiteX154" fmla="*/ 150700 w 809291"/>
              <a:gd name="connsiteY154" fmla="*/ 65474 h 90263"/>
              <a:gd name="connsiteX155" fmla="*/ 150700 w 809291"/>
              <a:gd name="connsiteY155" fmla="*/ 69588 h 90263"/>
              <a:gd name="connsiteX156" fmla="*/ 160039 w 809291"/>
              <a:gd name="connsiteY156" fmla="*/ 69588 h 90263"/>
              <a:gd name="connsiteX157" fmla="*/ 160039 w 809291"/>
              <a:gd name="connsiteY157" fmla="*/ 6076 h 90263"/>
              <a:gd name="connsiteX158" fmla="*/ 150579 w 809291"/>
              <a:gd name="connsiteY158" fmla="*/ 6076 h 90263"/>
              <a:gd name="connsiteX159" fmla="*/ 150579 w 809291"/>
              <a:gd name="connsiteY159" fmla="*/ 27793 h 90263"/>
              <a:gd name="connsiteX160" fmla="*/ 136066 w 809291"/>
              <a:gd name="connsiteY160" fmla="*/ 22680 h 90263"/>
              <a:gd name="connsiteX161" fmla="*/ 112304 w 809291"/>
              <a:gd name="connsiteY161" fmla="*/ 46968 h 90263"/>
              <a:gd name="connsiteX162" fmla="*/ 122147 w 809291"/>
              <a:gd name="connsiteY162" fmla="*/ 46367 h 90263"/>
              <a:gd name="connsiteX163" fmla="*/ 135954 w 809291"/>
              <a:gd name="connsiteY163" fmla="*/ 61241 h 90263"/>
              <a:gd name="connsiteX164" fmla="*/ 150536 w 809291"/>
              <a:gd name="connsiteY164" fmla="*/ 47563 h 90263"/>
              <a:gd name="connsiteX165" fmla="*/ 150542 w 809291"/>
              <a:gd name="connsiteY165" fmla="*/ 46923 h 90263"/>
              <a:gd name="connsiteX166" fmla="*/ 135713 w 809291"/>
              <a:gd name="connsiteY166" fmla="*/ 31959 h 90263"/>
              <a:gd name="connsiteX167" fmla="*/ 122140 w 809291"/>
              <a:gd name="connsiteY167" fmla="*/ 46367 h 90263"/>
              <a:gd name="connsiteX168" fmla="*/ 698783 w 809291"/>
              <a:gd name="connsiteY168" fmla="*/ 46156 h 90263"/>
              <a:gd name="connsiteX169" fmla="*/ 675134 w 809291"/>
              <a:gd name="connsiteY169" fmla="*/ 22597 h 90263"/>
              <a:gd name="connsiteX170" fmla="*/ 660388 w 809291"/>
              <a:gd name="connsiteY170" fmla="*/ 27650 h 90263"/>
              <a:gd name="connsiteX171" fmla="*/ 660388 w 809291"/>
              <a:gd name="connsiteY171" fmla="*/ 23537 h 90263"/>
              <a:gd name="connsiteX172" fmla="*/ 651048 w 809291"/>
              <a:gd name="connsiteY172" fmla="*/ 23537 h 90263"/>
              <a:gd name="connsiteX173" fmla="*/ 651048 w 809291"/>
              <a:gd name="connsiteY173" fmla="*/ 85349 h 90263"/>
              <a:gd name="connsiteX174" fmla="*/ 660508 w 809291"/>
              <a:gd name="connsiteY174" fmla="*/ 85349 h 90263"/>
              <a:gd name="connsiteX175" fmla="*/ 660508 w 809291"/>
              <a:gd name="connsiteY175" fmla="*/ 65331 h 90263"/>
              <a:gd name="connsiteX176" fmla="*/ 675021 w 809291"/>
              <a:gd name="connsiteY176" fmla="*/ 70445 h 90263"/>
              <a:gd name="connsiteX177" fmla="*/ 698783 w 809291"/>
              <a:gd name="connsiteY177" fmla="*/ 46156 h 90263"/>
              <a:gd name="connsiteX178" fmla="*/ 688940 w 809291"/>
              <a:gd name="connsiteY178" fmla="*/ 46758 h 90263"/>
              <a:gd name="connsiteX179" fmla="*/ 675134 w 809291"/>
              <a:gd name="connsiteY179" fmla="*/ 31884 h 90263"/>
              <a:gd name="connsiteX180" fmla="*/ 660551 w 809291"/>
              <a:gd name="connsiteY180" fmla="*/ 45561 h 90263"/>
              <a:gd name="connsiteX181" fmla="*/ 660545 w 809291"/>
              <a:gd name="connsiteY181" fmla="*/ 46201 h 90263"/>
              <a:gd name="connsiteX182" fmla="*/ 675374 w 809291"/>
              <a:gd name="connsiteY182" fmla="*/ 61166 h 90263"/>
              <a:gd name="connsiteX183" fmla="*/ 688940 w 809291"/>
              <a:gd name="connsiteY183" fmla="*/ 46758 h 90263"/>
              <a:gd name="connsiteX184" fmla="*/ 771213 w 809291"/>
              <a:gd name="connsiteY184" fmla="*/ 69768 h 90263"/>
              <a:gd name="connsiteX185" fmla="*/ 771213 w 809291"/>
              <a:gd name="connsiteY185" fmla="*/ 23619 h 90263"/>
              <a:gd name="connsiteX186" fmla="*/ 780643 w 809291"/>
              <a:gd name="connsiteY186" fmla="*/ 23619 h 90263"/>
              <a:gd name="connsiteX187" fmla="*/ 780643 w 809291"/>
              <a:gd name="connsiteY187" fmla="*/ 26492 h 90263"/>
              <a:gd name="connsiteX188" fmla="*/ 791697 w 809291"/>
              <a:gd name="connsiteY188" fmla="*/ 22845 h 90263"/>
              <a:gd name="connsiteX189" fmla="*/ 810173 w 809291"/>
              <a:gd name="connsiteY189" fmla="*/ 41253 h 90263"/>
              <a:gd name="connsiteX190" fmla="*/ 810173 w 809291"/>
              <a:gd name="connsiteY190" fmla="*/ 69768 h 90263"/>
              <a:gd name="connsiteX191" fmla="*/ 800623 w 809291"/>
              <a:gd name="connsiteY191" fmla="*/ 69768 h 90263"/>
              <a:gd name="connsiteX192" fmla="*/ 800623 w 809291"/>
              <a:gd name="connsiteY192" fmla="*/ 42088 h 90263"/>
              <a:gd name="connsiteX193" fmla="*/ 790735 w 809291"/>
              <a:gd name="connsiteY193" fmla="*/ 32019 h 90263"/>
              <a:gd name="connsiteX194" fmla="*/ 780643 w 809291"/>
              <a:gd name="connsiteY194" fmla="*/ 42088 h 90263"/>
              <a:gd name="connsiteX195" fmla="*/ 780643 w 809291"/>
              <a:gd name="connsiteY195" fmla="*/ 69768 h 90263"/>
              <a:gd name="connsiteX196" fmla="*/ 771213 w 809291"/>
              <a:gd name="connsiteY196" fmla="*/ 69768 h 90263"/>
              <a:gd name="connsiteX197" fmla="*/ 542741 w 809291"/>
              <a:gd name="connsiteY197" fmla="*/ 69610 h 90263"/>
              <a:gd name="connsiteX198" fmla="*/ 542741 w 809291"/>
              <a:gd name="connsiteY198" fmla="*/ 6986 h 90263"/>
              <a:gd name="connsiteX199" fmla="*/ 550893 w 809291"/>
              <a:gd name="connsiteY199" fmla="*/ 6986 h 90263"/>
              <a:gd name="connsiteX200" fmla="*/ 582588 w 809291"/>
              <a:gd name="connsiteY200" fmla="*/ 50427 h 90263"/>
              <a:gd name="connsiteX201" fmla="*/ 582588 w 809291"/>
              <a:gd name="connsiteY201" fmla="*/ 6986 h 90263"/>
              <a:gd name="connsiteX202" fmla="*/ 592514 w 809291"/>
              <a:gd name="connsiteY202" fmla="*/ 6986 h 90263"/>
              <a:gd name="connsiteX203" fmla="*/ 592514 w 809291"/>
              <a:gd name="connsiteY203" fmla="*/ 69610 h 90263"/>
              <a:gd name="connsiteX204" fmla="*/ 584288 w 809291"/>
              <a:gd name="connsiteY204" fmla="*/ 69610 h 90263"/>
              <a:gd name="connsiteX205" fmla="*/ 552652 w 809291"/>
              <a:gd name="connsiteY205" fmla="*/ 26026 h 90263"/>
              <a:gd name="connsiteX206" fmla="*/ 552652 w 809291"/>
              <a:gd name="connsiteY206" fmla="*/ 69610 h 90263"/>
              <a:gd name="connsiteX207" fmla="*/ 542734 w 809291"/>
              <a:gd name="connsiteY207" fmla="*/ 69610 h 90263"/>
              <a:gd name="connsiteX208" fmla="*/ 10208 w 809291"/>
              <a:gd name="connsiteY208" fmla="*/ 69588 h 90263"/>
              <a:gd name="connsiteX209" fmla="*/ 884 w 809291"/>
              <a:gd name="connsiteY209" fmla="*/ 69588 h 90263"/>
              <a:gd name="connsiteX210" fmla="*/ 884 w 809291"/>
              <a:gd name="connsiteY210" fmla="*/ 11144 h 90263"/>
              <a:gd name="connsiteX211" fmla="*/ 8509 w 809291"/>
              <a:gd name="connsiteY211" fmla="*/ 11144 h 90263"/>
              <a:gd name="connsiteX212" fmla="*/ 28542 w 809291"/>
              <a:gd name="connsiteY212" fmla="*/ 38193 h 90263"/>
              <a:gd name="connsiteX213" fmla="*/ 48499 w 809291"/>
              <a:gd name="connsiteY213" fmla="*/ 11182 h 90263"/>
              <a:gd name="connsiteX214" fmla="*/ 56244 w 809291"/>
              <a:gd name="connsiteY214" fmla="*/ 11182 h 90263"/>
              <a:gd name="connsiteX215" fmla="*/ 56244 w 809291"/>
              <a:gd name="connsiteY215" fmla="*/ 69580 h 90263"/>
              <a:gd name="connsiteX216" fmla="*/ 46800 w 809291"/>
              <a:gd name="connsiteY216" fmla="*/ 69580 h 90263"/>
              <a:gd name="connsiteX217" fmla="*/ 46800 w 809291"/>
              <a:gd name="connsiteY217" fmla="*/ 29079 h 90263"/>
              <a:gd name="connsiteX218" fmla="*/ 28542 w 809291"/>
              <a:gd name="connsiteY218" fmla="*/ 53939 h 90263"/>
              <a:gd name="connsiteX219" fmla="*/ 10208 w 809291"/>
              <a:gd name="connsiteY219" fmla="*/ 28928 h 90263"/>
              <a:gd name="connsiteX220" fmla="*/ 10208 w 809291"/>
              <a:gd name="connsiteY220" fmla="*/ 69588 h 9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</a:cxnLst>
            <a:rect l="l" t="t" r="r" b="b"/>
            <a:pathLst>
              <a:path w="809291" h="90263">
                <a:moveTo>
                  <a:pt x="461716" y="89199"/>
                </a:moveTo>
                <a:cubicBezTo>
                  <a:pt x="462097" y="90602"/>
                  <a:pt x="463543" y="91430"/>
                  <a:pt x="464946" y="91049"/>
                </a:cubicBezTo>
                <a:cubicBezTo>
                  <a:pt x="465384" y="90930"/>
                  <a:pt x="465784" y="90699"/>
                  <a:pt x="466108" y="90380"/>
                </a:cubicBezTo>
                <a:lnTo>
                  <a:pt x="505233" y="51721"/>
                </a:lnTo>
                <a:lnTo>
                  <a:pt x="458738" y="78213"/>
                </a:lnTo>
                <a:lnTo>
                  <a:pt x="461716" y="89199"/>
                </a:lnTo>
                <a:close/>
                <a:moveTo>
                  <a:pt x="445052" y="1218"/>
                </a:moveTo>
                <a:cubicBezTo>
                  <a:pt x="443787" y="504"/>
                  <a:pt x="442181" y="951"/>
                  <a:pt x="441467" y="2217"/>
                </a:cubicBezTo>
                <a:cubicBezTo>
                  <a:pt x="441244" y="2612"/>
                  <a:pt x="441127" y="3058"/>
                  <a:pt x="441127" y="3512"/>
                </a:cubicBezTo>
                <a:lnTo>
                  <a:pt x="441127" y="26906"/>
                </a:lnTo>
                <a:lnTo>
                  <a:pt x="465762" y="12859"/>
                </a:lnTo>
                <a:lnTo>
                  <a:pt x="445052" y="1218"/>
                </a:lnTo>
                <a:close/>
                <a:moveTo>
                  <a:pt x="473086" y="17047"/>
                </a:moveTo>
                <a:lnTo>
                  <a:pt x="441127" y="35253"/>
                </a:lnTo>
                <a:lnTo>
                  <a:pt x="441127" y="53638"/>
                </a:lnTo>
                <a:lnTo>
                  <a:pt x="489186" y="26236"/>
                </a:lnTo>
                <a:lnTo>
                  <a:pt x="473086" y="17047"/>
                </a:lnTo>
                <a:close/>
                <a:moveTo>
                  <a:pt x="508489" y="41885"/>
                </a:moveTo>
                <a:cubicBezTo>
                  <a:pt x="509754" y="41168"/>
                  <a:pt x="510197" y="39562"/>
                  <a:pt x="509481" y="38297"/>
                </a:cubicBezTo>
                <a:cubicBezTo>
                  <a:pt x="509246" y="37883"/>
                  <a:pt x="508903" y="37540"/>
                  <a:pt x="508489" y="37305"/>
                </a:cubicBezTo>
                <a:lnTo>
                  <a:pt x="496517" y="30538"/>
                </a:lnTo>
                <a:lnTo>
                  <a:pt x="441135" y="62113"/>
                </a:lnTo>
                <a:lnTo>
                  <a:pt x="441135" y="75513"/>
                </a:lnTo>
                <a:cubicBezTo>
                  <a:pt x="441132" y="76967"/>
                  <a:pt x="442308" y="78147"/>
                  <a:pt x="443761" y="78150"/>
                </a:cubicBezTo>
                <a:cubicBezTo>
                  <a:pt x="444219" y="78152"/>
                  <a:pt x="444670" y="78033"/>
                  <a:pt x="445067" y="77807"/>
                </a:cubicBezTo>
                <a:lnTo>
                  <a:pt x="508496" y="41885"/>
                </a:lnTo>
                <a:close/>
                <a:moveTo>
                  <a:pt x="305749" y="12167"/>
                </a:moveTo>
                <a:cubicBezTo>
                  <a:pt x="305749" y="8911"/>
                  <a:pt x="308419" y="6279"/>
                  <a:pt x="311705" y="6279"/>
                </a:cubicBezTo>
                <a:cubicBezTo>
                  <a:pt x="314991" y="6279"/>
                  <a:pt x="317660" y="8911"/>
                  <a:pt x="317660" y="12167"/>
                </a:cubicBezTo>
                <a:cubicBezTo>
                  <a:pt x="317660" y="15423"/>
                  <a:pt x="314991" y="18055"/>
                  <a:pt x="311705" y="18055"/>
                </a:cubicBezTo>
                <a:cubicBezTo>
                  <a:pt x="308419" y="18055"/>
                  <a:pt x="305749" y="15423"/>
                  <a:pt x="305749" y="12167"/>
                </a:cubicBezTo>
                <a:close/>
                <a:moveTo>
                  <a:pt x="750700" y="12167"/>
                </a:moveTo>
                <a:cubicBezTo>
                  <a:pt x="750700" y="8911"/>
                  <a:pt x="753369" y="6279"/>
                  <a:pt x="756655" y="6279"/>
                </a:cubicBezTo>
                <a:cubicBezTo>
                  <a:pt x="759941" y="6279"/>
                  <a:pt x="762611" y="8911"/>
                  <a:pt x="762611" y="12167"/>
                </a:cubicBezTo>
                <a:cubicBezTo>
                  <a:pt x="762611" y="15423"/>
                  <a:pt x="759941" y="18055"/>
                  <a:pt x="756655" y="18055"/>
                </a:cubicBezTo>
                <a:cubicBezTo>
                  <a:pt x="753369" y="18055"/>
                  <a:pt x="750700" y="15423"/>
                  <a:pt x="750700" y="12167"/>
                </a:cubicBezTo>
                <a:close/>
                <a:moveTo>
                  <a:pt x="104371" y="69588"/>
                </a:moveTo>
                <a:lnTo>
                  <a:pt x="94821" y="69588"/>
                </a:lnTo>
                <a:lnTo>
                  <a:pt x="94821" y="65926"/>
                </a:lnTo>
                <a:cubicBezTo>
                  <a:pt x="92745" y="67437"/>
                  <a:pt x="88324" y="70505"/>
                  <a:pt x="80676" y="70505"/>
                </a:cubicBezTo>
                <a:cubicBezTo>
                  <a:pt x="71637" y="70505"/>
                  <a:pt x="63576" y="64534"/>
                  <a:pt x="64606" y="54879"/>
                </a:cubicBezTo>
                <a:cubicBezTo>
                  <a:pt x="65494" y="46562"/>
                  <a:pt x="73277" y="42968"/>
                  <a:pt x="78503" y="41892"/>
                </a:cubicBezTo>
                <a:lnTo>
                  <a:pt x="94821" y="39298"/>
                </a:lnTo>
                <a:cubicBezTo>
                  <a:pt x="94821" y="35245"/>
                  <a:pt x="92640" y="32109"/>
                  <a:pt x="86820" y="31733"/>
                </a:cubicBezTo>
                <a:cubicBezTo>
                  <a:pt x="80999" y="31357"/>
                  <a:pt x="77721" y="34027"/>
                  <a:pt x="75006" y="39381"/>
                </a:cubicBezTo>
                <a:lnTo>
                  <a:pt x="66554" y="34831"/>
                </a:lnTo>
                <a:cubicBezTo>
                  <a:pt x="75713" y="15047"/>
                  <a:pt x="104371" y="21567"/>
                  <a:pt x="104371" y="37945"/>
                </a:cubicBezTo>
                <a:lnTo>
                  <a:pt x="104371" y="69580"/>
                </a:lnTo>
                <a:close/>
                <a:moveTo>
                  <a:pt x="94821" y="48081"/>
                </a:moveTo>
                <a:cubicBezTo>
                  <a:pt x="94866" y="51059"/>
                  <a:pt x="94354" y="56443"/>
                  <a:pt x="88662" y="60038"/>
                </a:cubicBezTo>
                <a:cubicBezTo>
                  <a:pt x="84248" y="62820"/>
                  <a:pt x="74818" y="62286"/>
                  <a:pt x="74352" y="57067"/>
                </a:cubicBezTo>
                <a:cubicBezTo>
                  <a:pt x="73983" y="52894"/>
                  <a:pt x="77818" y="51119"/>
                  <a:pt x="81165" y="50315"/>
                </a:cubicBezTo>
                <a:lnTo>
                  <a:pt x="94821" y="48081"/>
                </a:lnTo>
                <a:close/>
                <a:moveTo>
                  <a:pt x="641220" y="69588"/>
                </a:moveTo>
                <a:lnTo>
                  <a:pt x="631670" y="69588"/>
                </a:lnTo>
                <a:lnTo>
                  <a:pt x="631670" y="65926"/>
                </a:lnTo>
                <a:cubicBezTo>
                  <a:pt x="629594" y="67437"/>
                  <a:pt x="625173" y="70505"/>
                  <a:pt x="617525" y="70505"/>
                </a:cubicBezTo>
                <a:cubicBezTo>
                  <a:pt x="608486" y="70505"/>
                  <a:pt x="600425" y="64534"/>
                  <a:pt x="601455" y="54879"/>
                </a:cubicBezTo>
                <a:cubicBezTo>
                  <a:pt x="602343" y="46562"/>
                  <a:pt x="610126" y="42968"/>
                  <a:pt x="615352" y="41892"/>
                </a:cubicBezTo>
                <a:lnTo>
                  <a:pt x="631670" y="39298"/>
                </a:lnTo>
                <a:cubicBezTo>
                  <a:pt x="631670" y="35245"/>
                  <a:pt x="629489" y="32109"/>
                  <a:pt x="623669" y="31733"/>
                </a:cubicBezTo>
                <a:cubicBezTo>
                  <a:pt x="617848" y="31357"/>
                  <a:pt x="614570" y="34027"/>
                  <a:pt x="611855" y="39381"/>
                </a:cubicBezTo>
                <a:lnTo>
                  <a:pt x="603403" y="34831"/>
                </a:lnTo>
                <a:cubicBezTo>
                  <a:pt x="612562" y="15047"/>
                  <a:pt x="641220" y="21567"/>
                  <a:pt x="641220" y="37945"/>
                </a:cubicBezTo>
                <a:lnTo>
                  <a:pt x="641220" y="69580"/>
                </a:lnTo>
                <a:close/>
                <a:moveTo>
                  <a:pt x="631670" y="48081"/>
                </a:moveTo>
                <a:cubicBezTo>
                  <a:pt x="631715" y="51059"/>
                  <a:pt x="631203" y="56443"/>
                  <a:pt x="625504" y="60038"/>
                </a:cubicBezTo>
                <a:cubicBezTo>
                  <a:pt x="621089" y="62820"/>
                  <a:pt x="611660" y="62286"/>
                  <a:pt x="611193" y="57067"/>
                </a:cubicBezTo>
                <a:cubicBezTo>
                  <a:pt x="610825" y="52894"/>
                  <a:pt x="614660" y="51119"/>
                  <a:pt x="618006" y="50315"/>
                </a:cubicBezTo>
                <a:lnTo>
                  <a:pt x="631662" y="48081"/>
                </a:lnTo>
                <a:close/>
                <a:moveTo>
                  <a:pt x="715981" y="69588"/>
                </a:moveTo>
                <a:lnTo>
                  <a:pt x="706611" y="69588"/>
                </a:lnTo>
                <a:lnTo>
                  <a:pt x="706611" y="6046"/>
                </a:lnTo>
                <a:lnTo>
                  <a:pt x="715981" y="6046"/>
                </a:lnTo>
                <a:lnTo>
                  <a:pt x="715981" y="42855"/>
                </a:lnTo>
                <a:lnTo>
                  <a:pt x="736134" y="23612"/>
                </a:lnTo>
                <a:lnTo>
                  <a:pt x="749203" y="23612"/>
                </a:lnTo>
                <a:lnTo>
                  <a:pt x="729404" y="42675"/>
                </a:lnTo>
                <a:lnTo>
                  <a:pt x="749820" y="69580"/>
                </a:lnTo>
                <a:lnTo>
                  <a:pt x="738119" y="69580"/>
                </a:lnTo>
                <a:lnTo>
                  <a:pt x="722501" y="49224"/>
                </a:lnTo>
                <a:lnTo>
                  <a:pt x="715981" y="55571"/>
                </a:lnTo>
                <a:lnTo>
                  <a:pt x="715981" y="69580"/>
                </a:lnTo>
                <a:close/>
                <a:moveTo>
                  <a:pt x="761498" y="23612"/>
                </a:moveTo>
                <a:lnTo>
                  <a:pt x="752061" y="23612"/>
                </a:lnTo>
                <a:lnTo>
                  <a:pt x="752061" y="69580"/>
                </a:lnTo>
                <a:lnTo>
                  <a:pt x="761498" y="69580"/>
                </a:lnTo>
                <a:lnTo>
                  <a:pt x="761498" y="23612"/>
                </a:lnTo>
                <a:close/>
                <a:moveTo>
                  <a:pt x="316329" y="23612"/>
                </a:moveTo>
                <a:lnTo>
                  <a:pt x="306892" y="23612"/>
                </a:lnTo>
                <a:lnTo>
                  <a:pt x="306892" y="69580"/>
                </a:lnTo>
                <a:lnTo>
                  <a:pt x="316329" y="69580"/>
                </a:lnTo>
                <a:lnTo>
                  <a:pt x="316329" y="23612"/>
                </a:lnTo>
                <a:close/>
                <a:moveTo>
                  <a:pt x="358320" y="69580"/>
                </a:moveTo>
                <a:lnTo>
                  <a:pt x="358320" y="6031"/>
                </a:lnTo>
                <a:lnTo>
                  <a:pt x="367757" y="6031"/>
                </a:lnTo>
                <a:lnTo>
                  <a:pt x="367757" y="26297"/>
                </a:lnTo>
                <a:cubicBezTo>
                  <a:pt x="370472" y="23695"/>
                  <a:pt x="375277" y="22649"/>
                  <a:pt x="378811" y="22649"/>
                </a:cubicBezTo>
                <a:cubicBezTo>
                  <a:pt x="389730" y="22649"/>
                  <a:pt x="397437" y="30786"/>
                  <a:pt x="397287" y="41058"/>
                </a:cubicBezTo>
                <a:lnTo>
                  <a:pt x="397287" y="69573"/>
                </a:lnTo>
                <a:lnTo>
                  <a:pt x="387737" y="69573"/>
                </a:lnTo>
                <a:lnTo>
                  <a:pt x="387737" y="41900"/>
                </a:lnTo>
                <a:cubicBezTo>
                  <a:pt x="387737" y="38832"/>
                  <a:pt x="386128" y="31831"/>
                  <a:pt x="377848" y="31831"/>
                </a:cubicBezTo>
                <a:cubicBezTo>
                  <a:pt x="370569" y="31831"/>
                  <a:pt x="367757" y="37516"/>
                  <a:pt x="367757" y="41900"/>
                </a:cubicBezTo>
                <a:lnTo>
                  <a:pt x="367757" y="69580"/>
                </a:lnTo>
                <a:lnTo>
                  <a:pt x="358320" y="69580"/>
                </a:lnTo>
                <a:close/>
                <a:moveTo>
                  <a:pt x="322526" y="32779"/>
                </a:moveTo>
                <a:lnTo>
                  <a:pt x="322526" y="23642"/>
                </a:lnTo>
                <a:lnTo>
                  <a:pt x="327196" y="23642"/>
                </a:lnTo>
                <a:cubicBezTo>
                  <a:pt x="329064" y="23642"/>
                  <a:pt x="330579" y="22127"/>
                  <a:pt x="330579" y="20258"/>
                </a:cubicBezTo>
                <a:lnTo>
                  <a:pt x="330579" y="13829"/>
                </a:lnTo>
                <a:lnTo>
                  <a:pt x="339987" y="13829"/>
                </a:lnTo>
                <a:lnTo>
                  <a:pt x="339987" y="23642"/>
                </a:lnTo>
                <a:lnTo>
                  <a:pt x="349830" y="23642"/>
                </a:lnTo>
                <a:lnTo>
                  <a:pt x="349830" y="32779"/>
                </a:lnTo>
                <a:lnTo>
                  <a:pt x="339987" y="32779"/>
                </a:lnTo>
                <a:lnTo>
                  <a:pt x="339987" y="56157"/>
                </a:lnTo>
                <a:cubicBezTo>
                  <a:pt x="339987" y="58361"/>
                  <a:pt x="340776" y="61151"/>
                  <a:pt x="344859" y="61151"/>
                </a:cubicBezTo>
                <a:cubicBezTo>
                  <a:pt x="347604" y="61151"/>
                  <a:pt x="348852" y="60887"/>
                  <a:pt x="350394" y="60624"/>
                </a:cubicBezTo>
                <a:lnTo>
                  <a:pt x="350394" y="69174"/>
                </a:lnTo>
                <a:cubicBezTo>
                  <a:pt x="350394" y="69174"/>
                  <a:pt x="347679" y="70024"/>
                  <a:pt x="343949" y="70024"/>
                </a:cubicBezTo>
                <a:cubicBezTo>
                  <a:pt x="333437" y="70024"/>
                  <a:pt x="330587" y="62121"/>
                  <a:pt x="330587" y="56579"/>
                </a:cubicBezTo>
                <a:lnTo>
                  <a:pt x="330587" y="32779"/>
                </a:lnTo>
                <a:lnTo>
                  <a:pt x="322533" y="32779"/>
                </a:lnTo>
                <a:close/>
                <a:moveTo>
                  <a:pt x="245486" y="23642"/>
                </a:moveTo>
                <a:lnTo>
                  <a:pt x="235003" y="23642"/>
                </a:lnTo>
                <a:lnTo>
                  <a:pt x="251479" y="69558"/>
                </a:lnTo>
                <a:lnTo>
                  <a:pt x="259939" y="69558"/>
                </a:lnTo>
                <a:lnTo>
                  <a:pt x="269218" y="40095"/>
                </a:lnTo>
                <a:lnTo>
                  <a:pt x="278528" y="69558"/>
                </a:lnTo>
                <a:lnTo>
                  <a:pt x="287018" y="69558"/>
                </a:lnTo>
                <a:lnTo>
                  <a:pt x="303471" y="23642"/>
                </a:lnTo>
                <a:lnTo>
                  <a:pt x="293071" y="23642"/>
                </a:lnTo>
                <a:lnTo>
                  <a:pt x="282852" y="53195"/>
                </a:lnTo>
                <a:lnTo>
                  <a:pt x="273407" y="23642"/>
                </a:lnTo>
                <a:lnTo>
                  <a:pt x="264955" y="23642"/>
                </a:lnTo>
                <a:lnTo>
                  <a:pt x="255615" y="53398"/>
                </a:lnTo>
                <a:lnTo>
                  <a:pt x="245479" y="23642"/>
                </a:lnTo>
                <a:close/>
                <a:moveTo>
                  <a:pt x="167912" y="46968"/>
                </a:moveTo>
                <a:cubicBezTo>
                  <a:pt x="167762" y="58744"/>
                  <a:pt x="176838" y="70498"/>
                  <a:pt x="192149" y="70498"/>
                </a:cubicBezTo>
                <a:cubicBezTo>
                  <a:pt x="203924" y="70498"/>
                  <a:pt x="210068" y="63594"/>
                  <a:pt x="212707" y="57571"/>
                </a:cubicBezTo>
                <a:lnTo>
                  <a:pt x="205210" y="53428"/>
                </a:lnTo>
                <a:cubicBezTo>
                  <a:pt x="202842" y="56428"/>
                  <a:pt x="199187" y="61654"/>
                  <a:pt x="192141" y="61654"/>
                </a:cubicBezTo>
                <a:cubicBezTo>
                  <a:pt x="183531" y="61654"/>
                  <a:pt x="178417" y="55781"/>
                  <a:pt x="177921" y="50224"/>
                </a:cubicBezTo>
                <a:lnTo>
                  <a:pt x="212700" y="50224"/>
                </a:lnTo>
                <a:cubicBezTo>
                  <a:pt x="213256" y="48089"/>
                  <a:pt x="213813" y="42742"/>
                  <a:pt x="212474" y="38501"/>
                </a:cubicBezTo>
                <a:cubicBezTo>
                  <a:pt x="209948" y="30500"/>
                  <a:pt x="203293" y="22695"/>
                  <a:pt x="191126" y="22695"/>
                </a:cubicBezTo>
                <a:cubicBezTo>
                  <a:pt x="178959" y="22695"/>
                  <a:pt x="167905" y="31357"/>
                  <a:pt x="167905" y="46961"/>
                </a:cubicBezTo>
                <a:close/>
                <a:moveTo>
                  <a:pt x="178162" y="41328"/>
                </a:moveTo>
                <a:lnTo>
                  <a:pt x="203338" y="41328"/>
                </a:lnTo>
                <a:cubicBezTo>
                  <a:pt x="202924" y="38095"/>
                  <a:pt x="199082" y="31545"/>
                  <a:pt x="191133" y="31545"/>
                </a:cubicBezTo>
                <a:cubicBezTo>
                  <a:pt x="185107" y="31535"/>
                  <a:pt x="179808" y="35531"/>
                  <a:pt x="178162" y="41328"/>
                </a:cubicBezTo>
                <a:close/>
                <a:moveTo>
                  <a:pt x="112304" y="46968"/>
                </a:moveTo>
                <a:cubicBezTo>
                  <a:pt x="112590" y="60188"/>
                  <a:pt x="121907" y="70528"/>
                  <a:pt x="135954" y="70528"/>
                </a:cubicBezTo>
                <a:cubicBezTo>
                  <a:pt x="144030" y="70528"/>
                  <a:pt x="148910" y="66941"/>
                  <a:pt x="150700" y="65474"/>
                </a:cubicBezTo>
                <a:lnTo>
                  <a:pt x="150700" y="69588"/>
                </a:lnTo>
                <a:lnTo>
                  <a:pt x="160039" y="69588"/>
                </a:lnTo>
                <a:lnTo>
                  <a:pt x="160039" y="6076"/>
                </a:lnTo>
                <a:lnTo>
                  <a:pt x="150579" y="6076"/>
                </a:lnTo>
                <a:lnTo>
                  <a:pt x="150579" y="27793"/>
                </a:lnTo>
                <a:cubicBezTo>
                  <a:pt x="147466" y="25086"/>
                  <a:pt x="142593" y="22680"/>
                  <a:pt x="136066" y="22680"/>
                </a:cubicBezTo>
                <a:cubicBezTo>
                  <a:pt x="121704" y="22680"/>
                  <a:pt x="112018" y="33756"/>
                  <a:pt x="112304" y="46968"/>
                </a:cubicBezTo>
                <a:close/>
                <a:moveTo>
                  <a:pt x="122147" y="46367"/>
                </a:moveTo>
                <a:cubicBezTo>
                  <a:pt x="122147" y="54781"/>
                  <a:pt x="127584" y="61241"/>
                  <a:pt x="135954" y="61241"/>
                </a:cubicBezTo>
                <a:cubicBezTo>
                  <a:pt x="143758" y="61491"/>
                  <a:pt x="150286" y="55367"/>
                  <a:pt x="150536" y="47563"/>
                </a:cubicBezTo>
                <a:cubicBezTo>
                  <a:pt x="150543" y="47350"/>
                  <a:pt x="150545" y="47137"/>
                  <a:pt x="150542" y="46923"/>
                </a:cubicBezTo>
                <a:cubicBezTo>
                  <a:pt x="150542" y="36614"/>
                  <a:pt x="142939" y="31959"/>
                  <a:pt x="135713" y="31959"/>
                </a:cubicBezTo>
                <a:cubicBezTo>
                  <a:pt x="128486" y="31959"/>
                  <a:pt x="122140" y="37960"/>
                  <a:pt x="122140" y="46367"/>
                </a:cubicBezTo>
                <a:close/>
                <a:moveTo>
                  <a:pt x="698783" y="46156"/>
                </a:moveTo>
                <a:cubicBezTo>
                  <a:pt x="698498" y="32936"/>
                  <a:pt x="689181" y="22597"/>
                  <a:pt x="675134" y="22597"/>
                </a:cubicBezTo>
                <a:cubicBezTo>
                  <a:pt x="667058" y="22597"/>
                  <a:pt x="662177" y="26184"/>
                  <a:pt x="660388" y="27650"/>
                </a:cubicBezTo>
                <a:lnTo>
                  <a:pt x="660388" y="23537"/>
                </a:lnTo>
                <a:lnTo>
                  <a:pt x="651048" y="23537"/>
                </a:lnTo>
                <a:lnTo>
                  <a:pt x="651048" y="85349"/>
                </a:lnTo>
                <a:lnTo>
                  <a:pt x="660508" y="85349"/>
                </a:lnTo>
                <a:lnTo>
                  <a:pt x="660508" y="65331"/>
                </a:lnTo>
                <a:cubicBezTo>
                  <a:pt x="663621" y="68039"/>
                  <a:pt x="668501" y="70445"/>
                  <a:pt x="675021" y="70445"/>
                </a:cubicBezTo>
                <a:cubicBezTo>
                  <a:pt x="689384" y="70445"/>
                  <a:pt x="699069" y="59368"/>
                  <a:pt x="698783" y="46156"/>
                </a:cubicBezTo>
                <a:close/>
                <a:moveTo>
                  <a:pt x="688940" y="46758"/>
                </a:moveTo>
                <a:cubicBezTo>
                  <a:pt x="688940" y="38343"/>
                  <a:pt x="683503" y="31884"/>
                  <a:pt x="675134" y="31884"/>
                </a:cubicBezTo>
                <a:cubicBezTo>
                  <a:pt x="667330" y="31634"/>
                  <a:pt x="660801" y="37757"/>
                  <a:pt x="660551" y="45561"/>
                </a:cubicBezTo>
                <a:cubicBezTo>
                  <a:pt x="660545" y="45774"/>
                  <a:pt x="660542" y="45988"/>
                  <a:pt x="660545" y="46201"/>
                </a:cubicBezTo>
                <a:cubicBezTo>
                  <a:pt x="660545" y="56511"/>
                  <a:pt x="668148" y="61166"/>
                  <a:pt x="675374" y="61166"/>
                </a:cubicBezTo>
                <a:cubicBezTo>
                  <a:pt x="682601" y="61166"/>
                  <a:pt x="688940" y="55165"/>
                  <a:pt x="688940" y="46758"/>
                </a:cubicBezTo>
                <a:close/>
                <a:moveTo>
                  <a:pt x="771213" y="69768"/>
                </a:moveTo>
                <a:lnTo>
                  <a:pt x="771213" y="23619"/>
                </a:lnTo>
                <a:lnTo>
                  <a:pt x="780643" y="23619"/>
                </a:lnTo>
                <a:lnTo>
                  <a:pt x="780643" y="26492"/>
                </a:lnTo>
                <a:cubicBezTo>
                  <a:pt x="783358" y="23890"/>
                  <a:pt x="788163" y="22845"/>
                  <a:pt x="791697" y="22845"/>
                </a:cubicBezTo>
                <a:cubicBezTo>
                  <a:pt x="802616" y="22845"/>
                  <a:pt x="810324" y="30981"/>
                  <a:pt x="810173" y="41253"/>
                </a:cubicBezTo>
                <a:lnTo>
                  <a:pt x="810173" y="69768"/>
                </a:lnTo>
                <a:lnTo>
                  <a:pt x="800623" y="69768"/>
                </a:lnTo>
                <a:lnTo>
                  <a:pt x="800623" y="42088"/>
                </a:lnTo>
                <a:cubicBezTo>
                  <a:pt x="800623" y="39020"/>
                  <a:pt x="799014" y="32019"/>
                  <a:pt x="790735" y="32019"/>
                </a:cubicBezTo>
                <a:cubicBezTo>
                  <a:pt x="783448" y="32019"/>
                  <a:pt x="780643" y="37704"/>
                  <a:pt x="780643" y="42088"/>
                </a:cubicBezTo>
                <a:lnTo>
                  <a:pt x="780643" y="69768"/>
                </a:lnTo>
                <a:lnTo>
                  <a:pt x="771213" y="69768"/>
                </a:lnTo>
                <a:close/>
                <a:moveTo>
                  <a:pt x="542741" y="69610"/>
                </a:moveTo>
                <a:lnTo>
                  <a:pt x="542741" y="6986"/>
                </a:lnTo>
                <a:lnTo>
                  <a:pt x="550893" y="6986"/>
                </a:lnTo>
                <a:lnTo>
                  <a:pt x="582588" y="50427"/>
                </a:lnTo>
                <a:lnTo>
                  <a:pt x="582588" y="6986"/>
                </a:lnTo>
                <a:lnTo>
                  <a:pt x="592514" y="6986"/>
                </a:lnTo>
                <a:lnTo>
                  <a:pt x="592514" y="69610"/>
                </a:lnTo>
                <a:lnTo>
                  <a:pt x="584288" y="69610"/>
                </a:lnTo>
                <a:lnTo>
                  <a:pt x="552652" y="26026"/>
                </a:lnTo>
                <a:lnTo>
                  <a:pt x="552652" y="69610"/>
                </a:lnTo>
                <a:lnTo>
                  <a:pt x="542734" y="69610"/>
                </a:lnTo>
                <a:close/>
                <a:moveTo>
                  <a:pt x="10208" y="69588"/>
                </a:moveTo>
                <a:lnTo>
                  <a:pt x="884" y="69588"/>
                </a:lnTo>
                <a:lnTo>
                  <a:pt x="884" y="11144"/>
                </a:lnTo>
                <a:lnTo>
                  <a:pt x="8509" y="11144"/>
                </a:lnTo>
                <a:lnTo>
                  <a:pt x="28542" y="38193"/>
                </a:lnTo>
                <a:lnTo>
                  <a:pt x="48499" y="11182"/>
                </a:lnTo>
                <a:lnTo>
                  <a:pt x="56244" y="11182"/>
                </a:lnTo>
                <a:lnTo>
                  <a:pt x="56244" y="69580"/>
                </a:lnTo>
                <a:lnTo>
                  <a:pt x="46800" y="69580"/>
                </a:lnTo>
                <a:lnTo>
                  <a:pt x="46800" y="29079"/>
                </a:lnTo>
                <a:lnTo>
                  <a:pt x="28542" y="53939"/>
                </a:lnTo>
                <a:lnTo>
                  <a:pt x="10208" y="28928"/>
                </a:lnTo>
                <a:lnTo>
                  <a:pt x="10208" y="69588"/>
                </a:lnTo>
                <a:close/>
              </a:path>
            </a:pathLst>
          </a:custGeom>
          <a:noFill/>
          <a:ln w="7517" cap="rnd">
            <a:noFill/>
            <a:prstDash val="solid"/>
            <a:round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E380CB94-3289-0DCE-0E0E-05F98FA54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4307" y="5466936"/>
            <a:ext cx="525434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b="1" dirty="0">
                <a:solidFill>
                  <a:schemeClr val="accent2">
                    <a:lumMod val="50000"/>
                  </a:schemeClr>
                </a:solidFill>
                <a:latin typeface="Kristen ITC" panose="03050502040202030202" pitchFamily="66" charset="0"/>
              </a:rPr>
              <a:t>Check out our Prototype Demo Video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8A8AC09-5CD0-2F10-87C1-00D6F99759F1}"/>
              </a:ext>
            </a:extLst>
          </p:cNvPr>
          <p:cNvSpPr/>
          <p:nvPr/>
        </p:nvSpPr>
        <p:spPr>
          <a:xfrm>
            <a:off x="6565832" y="5867046"/>
            <a:ext cx="4602107" cy="60307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u="sng" dirty="0">
                <a:solidFill>
                  <a:schemeClr val="tx2">
                    <a:lumMod val="50000"/>
                  </a:schemeClr>
                </a:solidFill>
              </a:rPr>
              <a:t>https://youtube.com/playlist?list=PLZghJ684ztTeF9GQ2ZqvPMktYVlb5e7lk&amp;si=yODhyAmdDXDmYw-V</a:t>
            </a:r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37C02256-F90F-4CCC-1009-548DD3B8AC34}"/>
              </a:ext>
            </a:extLst>
          </p:cNvPr>
          <p:cNvCxnSpPr>
            <a:cxnSpLocks/>
          </p:cNvCxnSpPr>
          <p:nvPr/>
        </p:nvCxnSpPr>
        <p:spPr>
          <a:xfrm rot="5400000">
            <a:off x="10890392" y="5743890"/>
            <a:ext cx="646329" cy="43261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E3A20C95-B1BE-26BD-D09D-A563FFFCC46E}"/>
              </a:ext>
            </a:extLst>
          </p:cNvPr>
          <p:cNvSpPr txBox="1">
            <a:spLocks/>
          </p:cNvSpPr>
          <p:nvPr/>
        </p:nvSpPr>
        <p:spPr bwMode="auto">
          <a:xfrm>
            <a:off x="0" y="86651"/>
            <a:ext cx="12192000" cy="757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4000" b="1" dirty="0">
                <a:solidFill>
                  <a:schemeClr val="tx2">
                    <a:lumMod val="50000"/>
                  </a:schemeClr>
                </a:solidFill>
                <a:latin typeface="Garamond" panose="02020404030301010803" pitchFamily="18" charset="0"/>
              </a:rPr>
              <a:t>TECHNICAL APPROACH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60962E-22CE-36FD-F897-71ABAEE5DC5B}"/>
              </a:ext>
            </a:extLst>
          </p:cNvPr>
          <p:cNvSpPr txBox="1"/>
          <p:nvPr/>
        </p:nvSpPr>
        <p:spPr>
          <a:xfrm>
            <a:off x="4977906" y="1415796"/>
            <a:ext cx="735329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50" dirty="0">
                <a:solidFill>
                  <a:srgbClr val="3E3E3E"/>
                </a:solidFill>
              </a:rPr>
              <a:t>with smile</a:t>
            </a:r>
            <a:endParaRPr lang="en-IN" sz="850" dirty="0">
              <a:solidFill>
                <a:srgbClr val="3E3E3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601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F7F20-F3CF-D249-2E9D-E56E2B595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7169E-746F-0A48-1FFF-0D59356AD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412915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02C6FE-EC34-CD33-F310-FAA516B1B45B}"/>
              </a:ext>
            </a:extLst>
          </p:cNvPr>
          <p:cNvSpPr txBox="1">
            <a:spLocks/>
          </p:cNvSpPr>
          <p:nvPr/>
        </p:nvSpPr>
        <p:spPr bwMode="auto">
          <a:xfrm>
            <a:off x="0" y="86651"/>
            <a:ext cx="12192000" cy="757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4000" b="1" dirty="0">
                <a:solidFill>
                  <a:schemeClr val="tx2">
                    <a:lumMod val="50000"/>
                  </a:schemeClr>
                </a:solidFill>
                <a:latin typeface="Garamond" panose="02020404030301010803" pitchFamily="18" charset="0"/>
              </a:rPr>
              <a:t>FEASIBILITY AND VIABILITY</a:t>
            </a:r>
          </a:p>
        </p:txBody>
      </p:sp>
      <p:pic>
        <p:nvPicPr>
          <p:cNvPr id="5" name="Picture 2" descr="https://www.sih.gov.in/img1/SIH-Logo.png">
            <a:extLst>
              <a:ext uri="{FF2B5EF4-FFF2-40B4-BE49-F238E27FC236}">
                <a16:creationId xmlns:a16="http://schemas.microsoft.com/office/drawing/2014/main" id="{F979D1BB-BBD8-2130-452C-ADF05995B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7751" y="0"/>
            <a:ext cx="1862735" cy="946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 descr="Your startup LOGO">
            <a:extLst>
              <a:ext uri="{FF2B5EF4-FFF2-40B4-BE49-F238E27FC236}">
                <a16:creationId xmlns:a16="http://schemas.microsoft.com/office/drawing/2014/main" id="{D23325DD-C9BE-8CAD-E9CE-AF028622E52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69929"/>
            <a:ext cx="1175222" cy="75791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Attend Smart</a:t>
            </a:r>
            <a:endParaRPr lang="en-IN" sz="1600" b="1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84D6EF-66F8-2C88-853B-EF27D21CA59E}"/>
              </a:ext>
            </a:extLst>
          </p:cNvPr>
          <p:cNvSpPr/>
          <p:nvPr/>
        </p:nvSpPr>
        <p:spPr>
          <a:xfrm>
            <a:off x="3117461" y="919772"/>
            <a:ext cx="5812298" cy="41731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2AE27948-BE0B-1A44-EB1A-3D142A13E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5070" y="922730"/>
            <a:ext cx="5957080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1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Kristen ITC" panose="03050502040202030202" pitchFamily="66" charset="0"/>
              </a:rPr>
              <a:t>Analysis of the feasibility of the idea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26A1A8A-AB6E-4AE7-6408-3D050C87BA88}"/>
              </a:ext>
            </a:extLst>
          </p:cNvPr>
          <p:cNvSpPr/>
          <p:nvPr/>
        </p:nvSpPr>
        <p:spPr>
          <a:xfrm>
            <a:off x="427347" y="3574114"/>
            <a:ext cx="5380224" cy="2894196"/>
          </a:xfrm>
          <a:prstGeom prst="roundRect">
            <a:avLst>
              <a:gd name="adj" fmla="val 8283"/>
            </a:avLst>
          </a:prstGeom>
          <a:solidFill>
            <a:schemeClr val="tx2">
              <a:lumMod val="5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10253F"/>
              </a:solidFill>
            </a:endParaRP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02FA6759-C9B5-99C1-473C-713040E43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153" y="4216883"/>
            <a:ext cx="5141905" cy="1923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Accuracy of biometric </a:t>
            </a:r>
            <a:r>
              <a:rPr lang="en-US" sz="1700" b="1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recognition</a:t>
            </a:r>
            <a:r>
              <a:rPr lang="en-US" sz="170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 in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varying lighting/conditions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Connectivity/battery issues on older mobile devices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Privacy</a:t>
            </a:r>
            <a:r>
              <a:rPr lang="en-US" sz="170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 or resistance to on-device biometrics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Scaling</a:t>
            </a:r>
            <a:r>
              <a:rPr lang="en-US" sz="170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 and </a:t>
            </a:r>
            <a:r>
              <a:rPr lang="en-US" sz="1700" b="1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managing</a:t>
            </a:r>
            <a:r>
              <a:rPr lang="en-US" sz="170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 </a:t>
            </a:r>
            <a:r>
              <a:rPr lang="en-US" sz="1700" b="1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data</a:t>
            </a:r>
            <a:r>
              <a:rPr lang="en-US" sz="170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 for thousands or millions of students</a:t>
            </a: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5D9F3E74-58C2-6BF3-AE3E-2AFF28036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645" y="3702335"/>
            <a:ext cx="3435556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hangingPunct="0"/>
            <a:r>
              <a:rPr lang="en-IN" sz="2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Kristen ITC" panose="03050502040202030202" pitchFamily="66" charset="0"/>
              </a:rPr>
              <a:t>Potential challenges</a:t>
            </a:r>
            <a:r>
              <a:rPr kumimoji="0" lang="en-US" altLang="en-US" sz="2500" b="1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Kristen ITC" panose="03050502040202030202" pitchFamily="66" charset="0"/>
              </a:rPr>
              <a:t>: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D9B741A-4344-464E-8257-C0FA8D1ED215}"/>
              </a:ext>
            </a:extLst>
          </p:cNvPr>
          <p:cNvSpPr/>
          <p:nvPr/>
        </p:nvSpPr>
        <p:spPr>
          <a:xfrm>
            <a:off x="6348216" y="3205115"/>
            <a:ext cx="5380224" cy="3572926"/>
          </a:xfrm>
          <a:prstGeom prst="roundRect">
            <a:avLst>
              <a:gd name="adj" fmla="val 8283"/>
            </a:avLst>
          </a:prstGeom>
          <a:solidFill>
            <a:schemeClr val="tx2">
              <a:lumMod val="5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10253F"/>
              </a:solidFill>
            </a:endParaRP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BE77805B-57B5-4AE3-7185-26F56E17B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8022" y="3850141"/>
            <a:ext cx="5124378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Use proven face recognition models and liveness checks for reliability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b="1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Offline</a:t>
            </a:r>
            <a:r>
              <a:rPr lang="en-IN" sz="170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-first app and </a:t>
            </a:r>
            <a:r>
              <a:rPr lang="en-IN" sz="1700" b="1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battery optimizations</a:t>
            </a:r>
            <a:r>
              <a:rPr lang="en-IN" sz="170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 for minimal power/network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All biometric processing on device; no cloud storage; </a:t>
            </a:r>
            <a:r>
              <a:rPr lang="en-IN" sz="1700" b="1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transparent data policy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Modular, cloud-compatible backend for large-scale 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Continuous UX feedback loop with students and teachers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B98ACC-5194-5469-5C2F-9DD87C9E3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9581" y="3352394"/>
            <a:ext cx="3927678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hangingPunct="0"/>
            <a:r>
              <a:rPr lang="en-IN" sz="2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Kristen ITC" panose="03050502040202030202" pitchFamily="66" charset="0"/>
              </a:rPr>
              <a:t>Strategies to overcome</a:t>
            </a:r>
            <a:r>
              <a:rPr kumimoji="0" lang="en-US" altLang="en-US" sz="2500" b="1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Kristen ITC" panose="03050502040202030202" pitchFamily="66" charset="0"/>
              </a:rPr>
              <a:t>:</a:t>
            </a:r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14F6910-AE19-3D15-5F54-781E25909F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157" t="59065" r="8679" b="10515"/>
          <a:stretch>
            <a:fillRect/>
          </a:stretch>
        </p:blipFill>
        <p:spPr>
          <a:xfrm>
            <a:off x="9252865" y="1337082"/>
            <a:ext cx="2085900" cy="1754577"/>
          </a:xfrm>
          <a:prstGeom prst="rect">
            <a:avLst/>
          </a:prstGeom>
        </p:spPr>
      </p:pic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DE3DC47-C187-A3CA-DC80-9003CE9982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140" t="59731" r="54923" b="10676"/>
          <a:stretch>
            <a:fillRect/>
          </a:stretch>
        </p:blipFill>
        <p:spPr>
          <a:xfrm>
            <a:off x="3382999" y="1374576"/>
            <a:ext cx="2190013" cy="1754577"/>
          </a:xfrm>
          <a:prstGeom prst="rect">
            <a:avLst/>
          </a:prstGeom>
        </p:spPr>
      </p:pic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5746503-E4D4-FC9F-E1CB-A0D1CFEE4D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126" t="19275" r="11458" b="54579"/>
          <a:stretch>
            <a:fillRect/>
          </a:stretch>
        </p:blipFill>
        <p:spPr>
          <a:xfrm>
            <a:off x="6514123" y="1541336"/>
            <a:ext cx="1797631" cy="1545240"/>
          </a:xfrm>
          <a:prstGeom prst="rect">
            <a:avLst/>
          </a:prstGeom>
        </p:spPr>
      </p:pic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FAB67BD-C1BB-4C4A-D6AF-2690F34C21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252" t="14884" r="55211" b="54551"/>
          <a:stretch>
            <a:fillRect/>
          </a:stretch>
        </p:blipFill>
        <p:spPr>
          <a:xfrm>
            <a:off x="754166" y="1300891"/>
            <a:ext cx="2065823" cy="1828262"/>
          </a:xfrm>
          <a:prstGeom prst="rect">
            <a:avLst/>
          </a:prstGeom>
        </p:spPr>
      </p:pic>
      <p:pic>
        <p:nvPicPr>
          <p:cNvPr id="21" name="Google Shape;875;p74">
            <a:extLst>
              <a:ext uri="{FF2B5EF4-FFF2-40B4-BE49-F238E27FC236}">
                <a16:creationId xmlns:a16="http://schemas.microsoft.com/office/drawing/2014/main" id="{20AF933F-35C5-2FBE-C7A0-709EE8EEE97A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211007" y="3429000"/>
            <a:ext cx="1606565" cy="1602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0823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6F5F123-B9FB-7258-E925-DE0AB871A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29" y="2451385"/>
            <a:ext cx="64122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BF0F24-C6E7-6697-AFD5-494536EDF704}"/>
              </a:ext>
            </a:extLst>
          </p:cNvPr>
          <p:cNvSpPr txBox="1">
            <a:spLocks/>
          </p:cNvSpPr>
          <p:nvPr/>
        </p:nvSpPr>
        <p:spPr bwMode="auto">
          <a:xfrm>
            <a:off x="0" y="86651"/>
            <a:ext cx="12192000" cy="757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4000" b="1" dirty="0">
                <a:solidFill>
                  <a:schemeClr val="tx2">
                    <a:lumMod val="50000"/>
                  </a:schemeClr>
                </a:solidFill>
                <a:latin typeface="Garamond" panose="02020404030301010803" pitchFamily="18" charset="0"/>
              </a:rPr>
              <a:t>IMPACT AND BENEFITS</a:t>
            </a:r>
          </a:p>
        </p:txBody>
      </p:sp>
      <p:pic>
        <p:nvPicPr>
          <p:cNvPr id="4" name="Picture 2" descr="https://www.sih.gov.in/img1/SIH-Logo.png">
            <a:extLst>
              <a:ext uri="{FF2B5EF4-FFF2-40B4-BE49-F238E27FC236}">
                <a16:creationId xmlns:a16="http://schemas.microsoft.com/office/drawing/2014/main" id="{D9AF4D70-B07A-DB2D-FEA0-2F86C6310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7751" y="-24519"/>
            <a:ext cx="1862735" cy="946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1368BB5E-ECE0-4F32-C69E-AFDE1CE0680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69929"/>
            <a:ext cx="1175222" cy="75791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Attend Smart</a:t>
            </a:r>
            <a:endParaRPr lang="en-IN" sz="1600" b="1" dirty="0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DBE68E0-28E4-4374-A609-C504670A4444}"/>
              </a:ext>
            </a:extLst>
          </p:cNvPr>
          <p:cNvSpPr/>
          <p:nvPr/>
        </p:nvSpPr>
        <p:spPr>
          <a:xfrm>
            <a:off x="357238" y="934593"/>
            <a:ext cx="5380224" cy="1864985"/>
          </a:xfrm>
          <a:prstGeom prst="roundRect">
            <a:avLst>
              <a:gd name="adj" fmla="val 8283"/>
            </a:avLst>
          </a:prstGeom>
          <a:solidFill>
            <a:schemeClr val="tx2">
              <a:lumMod val="5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10253F"/>
              </a:solidFill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D8ABCD56-C26A-0B60-0856-144A90262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44" y="1516873"/>
            <a:ext cx="4916731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Proxy‑proof </a:t>
            </a:r>
            <a:r>
              <a:rPr lang="en-US" sz="170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attendance: Face + BLE + GPS + Barometer.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3–5s check‑in</a:t>
            </a:r>
            <a:r>
              <a:rPr lang="en-US" sz="170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; saves 15+ min/class.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100% offline; on‑device biometrics</a:t>
            </a: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0CF4C47C-E7F2-0A77-C1D9-1139FE5F2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603" y="1066284"/>
            <a:ext cx="1380506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1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Kristen ITC" panose="03050502040202030202" pitchFamily="66" charset="0"/>
              </a:rPr>
              <a:t>Impact: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C13DDE3-C1FF-335B-8229-8C8110483740}"/>
              </a:ext>
            </a:extLst>
          </p:cNvPr>
          <p:cNvSpPr/>
          <p:nvPr/>
        </p:nvSpPr>
        <p:spPr>
          <a:xfrm>
            <a:off x="371276" y="4363476"/>
            <a:ext cx="5380224" cy="2290485"/>
          </a:xfrm>
          <a:prstGeom prst="roundRect">
            <a:avLst>
              <a:gd name="adj" fmla="val 8283"/>
            </a:avLst>
          </a:prstGeom>
          <a:solidFill>
            <a:schemeClr val="tx2">
              <a:lumMod val="5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10253F"/>
              </a:solidFill>
            </a:endParaRP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56D502C9-A3CA-5238-8B95-C6834D952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82" y="4949419"/>
            <a:ext cx="5270418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Efficiency: </a:t>
            </a:r>
            <a:r>
              <a:rPr lang="en-US" sz="170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3–5s per student; auto session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Accuracy: </a:t>
            </a:r>
            <a:r>
              <a:rPr lang="en-US" sz="170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95%+ with liveness; &lt;0.1% false positives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Scale &amp; privacy: </a:t>
            </a:r>
            <a:r>
              <a:rPr lang="en-US" sz="170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offline‑first, state‑ready, data stays on device</a:t>
            </a:r>
            <a:r>
              <a:rPr lang="en-US" sz="1600" dirty="0"/>
              <a:t>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D78795-9FCE-F612-788A-876CA252A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641" y="4474028"/>
            <a:ext cx="1600118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1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Kristen ITC" panose="03050502040202030202" pitchFamily="66" charset="0"/>
              </a:rPr>
              <a:t>Benefits: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CCE7FB-CC73-5EF1-3BED-5C11C8873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603" y="2996585"/>
            <a:ext cx="1531188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1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Kristen ITC" panose="03050502040202030202" pitchFamily="66" charset="0"/>
              </a:rPr>
              <a:t>Analogy:</a:t>
            </a: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C0CC7B8C-9AB7-B4BA-B53E-EB1363ADD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44" y="3473639"/>
            <a:ext cx="5270418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Manual</a:t>
            </a:r>
            <a:r>
              <a:rPr lang="en-US" sz="1600" dirty="0"/>
              <a:t> </a:t>
            </a:r>
            <a:r>
              <a:rPr lang="en-US" sz="1700" dirty="0"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gate → e‑gate.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ans Kannada Light" pitchFamily="2" charset="0"/>
              </a:rPr>
              <a:t>2FA for attendance: “who” + “where.”</a:t>
            </a:r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95F9243B-2387-AFDA-CFF1-1ADF6C5A96FE}"/>
              </a:ext>
            </a:extLst>
          </p:cNvPr>
          <p:cNvSpPr/>
          <p:nvPr/>
        </p:nvSpPr>
        <p:spPr>
          <a:xfrm>
            <a:off x="4605397" y="6641495"/>
            <a:ext cx="1025102" cy="114334"/>
          </a:xfrm>
          <a:custGeom>
            <a:avLst/>
            <a:gdLst>
              <a:gd name="connsiteX0" fmla="*/ 583741 w 1025102"/>
              <a:gd name="connsiteY0" fmla="*/ 112499 h 114334"/>
              <a:gd name="connsiteX1" fmla="*/ 587832 w 1025102"/>
              <a:gd name="connsiteY1" fmla="*/ 114843 h 114334"/>
              <a:gd name="connsiteX2" fmla="*/ 589303 w 1025102"/>
              <a:gd name="connsiteY2" fmla="*/ 113995 h 114334"/>
              <a:gd name="connsiteX3" fmla="*/ 638862 w 1025102"/>
              <a:gd name="connsiteY3" fmla="*/ 65027 h 114334"/>
              <a:gd name="connsiteX4" fmla="*/ 579969 w 1025102"/>
              <a:gd name="connsiteY4" fmla="*/ 98583 h 114334"/>
              <a:gd name="connsiteX5" fmla="*/ 583741 w 1025102"/>
              <a:gd name="connsiteY5" fmla="*/ 112499 h 114334"/>
              <a:gd name="connsiteX6" fmla="*/ 562633 w 1025102"/>
              <a:gd name="connsiteY6" fmla="*/ 1057 h 114334"/>
              <a:gd name="connsiteX7" fmla="*/ 558091 w 1025102"/>
              <a:gd name="connsiteY7" fmla="*/ 2322 h 114334"/>
              <a:gd name="connsiteX8" fmla="*/ 557661 w 1025102"/>
              <a:gd name="connsiteY8" fmla="*/ 3962 h 114334"/>
              <a:gd name="connsiteX9" fmla="*/ 557661 w 1025102"/>
              <a:gd name="connsiteY9" fmla="*/ 33594 h 114334"/>
              <a:gd name="connsiteX10" fmla="*/ 588865 w 1025102"/>
              <a:gd name="connsiteY10" fmla="*/ 15802 h 114334"/>
              <a:gd name="connsiteX11" fmla="*/ 562633 w 1025102"/>
              <a:gd name="connsiteY11" fmla="*/ 1057 h 114334"/>
              <a:gd name="connsiteX12" fmla="*/ 598142 w 1025102"/>
              <a:gd name="connsiteY12" fmla="*/ 21107 h 114334"/>
              <a:gd name="connsiteX13" fmla="*/ 557661 w 1025102"/>
              <a:gd name="connsiteY13" fmla="*/ 44167 h 114334"/>
              <a:gd name="connsiteX14" fmla="*/ 557661 w 1025102"/>
              <a:gd name="connsiteY14" fmla="*/ 67456 h 114334"/>
              <a:gd name="connsiteX15" fmla="*/ 618535 w 1025102"/>
              <a:gd name="connsiteY15" fmla="*/ 32747 h 114334"/>
              <a:gd name="connsiteX16" fmla="*/ 598142 w 1025102"/>
              <a:gd name="connsiteY16" fmla="*/ 21107 h 114334"/>
              <a:gd name="connsiteX17" fmla="*/ 642986 w 1025102"/>
              <a:gd name="connsiteY17" fmla="*/ 52568 h 114334"/>
              <a:gd name="connsiteX18" fmla="*/ 644243 w 1025102"/>
              <a:gd name="connsiteY18" fmla="*/ 48024 h 114334"/>
              <a:gd name="connsiteX19" fmla="*/ 642986 w 1025102"/>
              <a:gd name="connsiteY19" fmla="*/ 46767 h 114334"/>
              <a:gd name="connsiteX20" fmla="*/ 627822 w 1025102"/>
              <a:gd name="connsiteY20" fmla="*/ 38195 h 114334"/>
              <a:gd name="connsiteX21" fmla="*/ 557671 w 1025102"/>
              <a:gd name="connsiteY21" fmla="*/ 78190 h 114334"/>
              <a:gd name="connsiteX22" fmla="*/ 557671 w 1025102"/>
              <a:gd name="connsiteY22" fmla="*/ 95164 h 114334"/>
              <a:gd name="connsiteX23" fmla="*/ 560997 w 1025102"/>
              <a:gd name="connsiteY23" fmla="*/ 98505 h 114334"/>
              <a:gd name="connsiteX24" fmla="*/ 562652 w 1025102"/>
              <a:gd name="connsiteY24" fmla="*/ 98069 h 114334"/>
              <a:gd name="connsiteX25" fmla="*/ 642996 w 1025102"/>
              <a:gd name="connsiteY25" fmla="*/ 52568 h 114334"/>
              <a:gd name="connsiteX26" fmla="*/ 386183 w 1025102"/>
              <a:gd name="connsiteY26" fmla="*/ 14925 h 114334"/>
              <a:gd name="connsiteX27" fmla="*/ 393726 w 1025102"/>
              <a:gd name="connsiteY27" fmla="*/ 7467 h 114334"/>
              <a:gd name="connsiteX28" fmla="*/ 401270 w 1025102"/>
              <a:gd name="connsiteY28" fmla="*/ 14925 h 114334"/>
              <a:gd name="connsiteX29" fmla="*/ 393726 w 1025102"/>
              <a:gd name="connsiteY29" fmla="*/ 22383 h 114334"/>
              <a:gd name="connsiteX30" fmla="*/ 386183 w 1025102"/>
              <a:gd name="connsiteY30" fmla="*/ 14925 h 114334"/>
              <a:gd name="connsiteX31" fmla="*/ 949786 w 1025102"/>
              <a:gd name="connsiteY31" fmla="*/ 14925 h 114334"/>
              <a:gd name="connsiteX32" fmla="*/ 957330 w 1025102"/>
              <a:gd name="connsiteY32" fmla="*/ 7467 h 114334"/>
              <a:gd name="connsiteX33" fmla="*/ 964874 w 1025102"/>
              <a:gd name="connsiteY33" fmla="*/ 14925 h 114334"/>
              <a:gd name="connsiteX34" fmla="*/ 957330 w 1025102"/>
              <a:gd name="connsiteY34" fmla="*/ 22383 h 114334"/>
              <a:gd name="connsiteX35" fmla="*/ 949786 w 1025102"/>
              <a:gd name="connsiteY35" fmla="*/ 14925 h 114334"/>
              <a:gd name="connsiteX36" fmla="*/ 131103 w 1025102"/>
              <a:gd name="connsiteY36" fmla="*/ 87658 h 114334"/>
              <a:gd name="connsiteX37" fmla="*/ 119006 w 1025102"/>
              <a:gd name="connsiteY37" fmla="*/ 87658 h 114334"/>
              <a:gd name="connsiteX38" fmla="*/ 119006 w 1025102"/>
              <a:gd name="connsiteY38" fmla="*/ 83020 h 114334"/>
              <a:gd name="connsiteX39" fmla="*/ 101090 w 1025102"/>
              <a:gd name="connsiteY39" fmla="*/ 88820 h 114334"/>
              <a:gd name="connsiteX40" fmla="*/ 80735 w 1025102"/>
              <a:gd name="connsiteY40" fmla="*/ 69027 h 114334"/>
              <a:gd name="connsiteX41" fmla="*/ 98337 w 1025102"/>
              <a:gd name="connsiteY41" fmla="*/ 52578 h 114334"/>
              <a:gd name="connsiteX42" fmla="*/ 119006 w 1025102"/>
              <a:gd name="connsiteY42" fmla="*/ 49292 h 114334"/>
              <a:gd name="connsiteX43" fmla="*/ 108872 w 1025102"/>
              <a:gd name="connsiteY43" fmla="*/ 39709 h 114334"/>
              <a:gd name="connsiteX44" fmla="*/ 93908 w 1025102"/>
              <a:gd name="connsiteY44" fmla="*/ 49396 h 114334"/>
              <a:gd name="connsiteX45" fmla="*/ 83202 w 1025102"/>
              <a:gd name="connsiteY45" fmla="*/ 43634 h 114334"/>
              <a:gd name="connsiteX46" fmla="*/ 131103 w 1025102"/>
              <a:gd name="connsiteY46" fmla="*/ 47577 h 114334"/>
              <a:gd name="connsiteX47" fmla="*/ 131103 w 1025102"/>
              <a:gd name="connsiteY47" fmla="*/ 87649 h 114334"/>
              <a:gd name="connsiteX48" fmla="*/ 119006 w 1025102"/>
              <a:gd name="connsiteY48" fmla="*/ 60417 h 114334"/>
              <a:gd name="connsiteX49" fmla="*/ 111205 w 1025102"/>
              <a:gd name="connsiteY49" fmla="*/ 75561 h 114334"/>
              <a:gd name="connsiteX50" fmla="*/ 93079 w 1025102"/>
              <a:gd name="connsiteY50" fmla="*/ 71799 h 114334"/>
              <a:gd name="connsiteX51" fmla="*/ 101709 w 1025102"/>
              <a:gd name="connsiteY51" fmla="*/ 63246 h 114334"/>
              <a:gd name="connsiteX52" fmla="*/ 119006 w 1025102"/>
              <a:gd name="connsiteY52" fmla="*/ 60417 h 114334"/>
              <a:gd name="connsiteX53" fmla="*/ 811112 w 1025102"/>
              <a:gd name="connsiteY53" fmla="*/ 87658 h 114334"/>
              <a:gd name="connsiteX54" fmla="*/ 799015 w 1025102"/>
              <a:gd name="connsiteY54" fmla="*/ 87658 h 114334"/>
              <a:gd name="connsiteX55" fmla="*/ 799015 w 1025102"/>
              <a:gd name="connsiteY55" fmla="*/ 83020 h 114334"/>
              <a:gd name="connsiteX56" fmla="*/ 781099 w 1025102"/>
              <a:gd name="connsiteY56" fmla="*/ 88820 h 114334"/>
              <a:gd name="connsiteX57" fmla="*/ 760744 w 1025102"/>
              <a:gd name="connsiteY57" fmla="*/ 69027 h 114334"/>
              <a:gd name="connsiteX58" fmla="*/ 778346 w 1025102"/>
              <a:gd name="connsiteY58" fmla="*/ 52578 h 114334"/>
              <a:gd name="connsiteX59" fmla="*/ 799015 w 1025102"/>
              <a:gd name="connsiteY59" fmla="*/ 49292 h 114334"/>
              <a:gd name="connsiteX60" fmla="*/ 788881 w 1025102"/>
              <a:gd name="connsiteY60" fmla="*/ 39709 h 114334"/>
              <a:gd name="connsiteX61" fmla="*/ 773917 w 1025102"/>
              <a:gd name="connsiteY61" fmla="*/ 49396 h 114334"/>
              <a:gd name="connsiteX62" fmla="*/ 763211 w 1025102"/>
              <a:gd name="connsiteY62" fmla="*/ 43634 h 114334"/>
              <a:gd name="connsiteX63" fmla="*/ 811112 w 1025102"/>
              <a:gd name="connsiteY63" fmla="*/ 47577 h 114334"/>
              <a:gd name="connsiteX64" fmla="*/ 811112 w 1025102"/>
              <a:gd name="connsiteY64" fmla="*/ 87649 h 114334"/>
              <a:gd name="connsiteX65" fmla="*/ 799015 w 1025102"/>
              <a:gd name="connsiteY65" fmla="*/ 60417 h 114334"/>
              <a:gd name="connsiteX66" fmla="*/ 791205 w 1025102"/>
              <a:gd name="connsiteY66" fmla="*/ 75561 h 114334"/>
              <a:gd name="connsiteX67" fmla="*/ 773079 w 1025102"/>
              <a:gd name="connsiteY67" fmla="*/ 71799 h 114334"/>
              <a:gd name="connsiteX68" fmla="*/ 781708 w 1025102"/>
              <a:gd name="connsiteY68" fmla="*/ 63246 h 114334"/>
              <a:gd name="connsiteX69" fmla="*/ 799006 w 1025102"/>
              <a:gd name="connsiteY69" fmla="*/ 60417 h 114334"/>
              <a:gd name="connsiteX70" fmla="*/ 905809 w 1025102"/>
              <a:gd name="connsiteY70" fmla="*/ 87658 h 114334"/>
              <a:gd name="connsiteX71" fmla="*/ 893941 w 1025102"/>
              <a:gd name="connsiteY71" fmla="*/ 87658 h 114334"/>
              <a:gd name="connsiteX72" fmla="*/ 893941 w 1025102"/>
              <a:gd name="connsiteY72" fmla="*/ 7172 h 114334"/>
              <a:gd name="connsiteX73" fmla="*/ 905809 w 1025102"/>
              <a:gd name="connsiteY73" fmla="*/ 7172 h 114334"/>
              <a:gd name="connsiteX74" fmla="*/ 905809 w 1025102"/>
              <a:gd name="connsiteY74" fmla="*/ 53797 h 114334"/>
              <a:gd name="connsiteX75" fmla="*/ 931336 w 1025102"/>
              <a:gd name="connsiteY75" fmla="*/ 29422 h 114334"/>
              <a:gd name="connsiteX76" fmla="*/ 947891 w 1025102"/>
              <a:gd name="connsiteY76" fmla="*/ 29422 h 114334"/>
              <a:gd name="connsiteX77" fmla="*/ 922812 w 1025102"/>
              <a:gd name="connsiteY77" fmla="*/ 53568 h 114334"/>
              <a:gd name="connsiteX78" fmla="*/ 948672 w 1025102"/>
              <a:gd name="connsiteY78" fmla="*/ 87649 h 114334"/>
              <a:gd name="connsiteX79" fmla="*/ 933851 w 1025102"/>
              <a:gd name="connsiteY79" fmla="*/ 87649 h 114334"/>
              <a:gd name="connsiteX80" fmla="*/ 914068 w 1025102"/>
              <a:gd name="connsiteY80" fmla="*/ 61865 h 114334"/>
              <a:gd name="connsiteX81" fmla="*/ 905809 w 1025102"/>
              <a:gd name="connsiteY81" fmla="*/ 69904 h 114334"/>
              <a:gd name="connsiteX82" fmla="*/ 905809 w 1025102"/>
              <a:gd name="connsiteY82" fmla="*/ 87649 h 114334"/>
              <a:gd name="connsiteX83" fmla="*/ 963464 w 1025102"/>
              <a:gd name="connsiteY83" fmla="*/ 29422 h 114334"/>
              <a:gd name="connsiteX84" fmla="*/ 951510 w 1025102"/>
              <a:gd name="connsiteY84" fmla="*/ 29422 h 114334"/>
              <a:gd name="connsiteX85" fmla="*/ 951510 w 1025102"/>
              <a:gd name="connsiteY85" fmla="*/ 87649 h 114334"/>
              <a:gd name="connsiteX86" fmla="*/ 963464 w 1025102"/>
              <a:gd name="connsiteY86" fmla="*/ 87649 h 114334"/>
              <a:gd name="connsiteX87" fmla="*/ 963464 w 1025102"/>
              <a:gd name="connsiteY87" fmla="*/ 29422 h 114334"/>
              <a:gd name="connsiteX88" fmla="*/ 399584 w 1025102"/>
              <a:gd name="connsiteY88" fmla="*/ 29422 h 114334"/>
              <a:gd name="connsiteX89" fmla="*/ 387630 w 1025102"/>
              <a:gd name="connsiteY89" fmla="*/ 29422 h 114334"/>
              <a:gd name="connsiteX90" fmla="*/ 387630 w 1025102"/>
              <a:gd name="connsiteY90" fmla="*/ 87649 h 114334"/>
              <a:gd name="connsiteX91" fmla="*/ 399584 w 1025102"/>
              <a:gd name="connsiteY91" fmla="*/ 87649 h 114334"/>
              <a:gd name="connsiteX92" fmla="*/ 399584 w 1025102"/>
              <a:gd name="connsiteY92" fmla="*/ 29422 h 114334"/>
              <a:gd name="connsiteX93" fmla="*/ 452772 w 1025102"/>
              <a:gd name="connsiteY93" fmla="*/ 87649 h 114334"/>
              <a:gd name="connsiteX94" fmla="*/ 452772 w 1025102"/>
              <a:gd name="connsiteY94" fmla="*/ 7153 h 114334"/>
              <a:gd name="connsiteX95" fmla="*/ 464726 w 1025102"/>
              <a:gd name="connsiteY95" fmla="*/ 7153 h 114334"/>
              <a:gd name="connsiteX96" fmla="*/ 464726 w 1025102"/>
              <a:gd name="connsiteY96" fmla="*/ 32823 h 114334"/>
              <a:gd name="connsiteX97" fmla="*/ 478727 w 1025102"/>
              <a:gd name="connsiteY97" fmla="*/ 28203 h 114334"/>
              <a:gd name="connsiteX98" fmla="*/ 502130 w 1025102"/>
              <a:gd name="connsiteY98" fmla="*/ 51520 h 114334"/>
              <a:gd name="connsiteX99" fmla="*/ 502130 w 1025102"/>
              <a:gd name="connsiteY99" fmla="*/ 87639 h 114334"/>
              <a:gd name="connsiteX100" fmla="*/ 490034 w 1025102"/>
              <a:gd name="connsiteY100" fmla="*/ 87639 h 114334"/>
              <a:gd name="connsiteX101" fmla="*/ 490034 w 1025102"/>
              <a:gd name="connsiteY101" fmla="*/ 52587 h 114334"/>
              <a:gd name="connsiteX102" fmla="*/ 477508 w 1025102"/>
              <a:gd name="connsiteY102" fmla="*/ 39833 h 114334"/>
              <a:gd name="connsiteX103" fmla="*/ 464726 w 1025102"/>
              <a:gd name="connsiteY103" fmla="*/ 52587 h 114334"/>
              <a:gd name="connsiteX104" fmla="*/ 464726 w 1025102"/>
              <a:gd name="connsiteY104" fmla="*/ 87649 h 114334"/>
              <a:gd name="connsiteX105" fmla="*/ 452772 w 1025102"/>
              <a:gd name="connsiteY105" fmla="*/ 87649 h 114334"/>
              <a:gd name="connsiteX106" fmla="*/ 407433 w 1025102"/>
              <a:gd name="connsiteY106" fmla="*/ 41033 h 114334"/>
              <a:gd name="connsiteX107" fmla="*/ 407433 w 1025102"/>
              <a:gd name="connsiteY107" fmla="*/ 29460 h 114334"/>
              <a:gd name="connsiteX108" fmla="*/ 413348 w 1025102"/>
              <a:gd name="connsiteY108" fmla="*/ 29460 h 114334"/>
              <a:gd name="connsiteX109" fmla="*/ 417634 w 1025102"/>
              <a:gd name="connsiteY109" fmla="*/ 25174 h 114334"/>
              <a:gd name="connsiteX110" fmla="*/ 417634 w 1025102"/>
              <a:gd name="connsiteY110" fmla="*/ 17030 h 114334"/>
              <a:gd name="connsiteX111" fmla="*/ 429550 w 1025102"/>
              <a:gd name="connsiteY111" fmla="*/ 17030 h 114334"/>
              <a:gd name="connsiteX112" fmla="*/ 429550 w 1025102"/>
              <a:gd name="connsiteY112" fmla="*/ 29460 h 114334"/>
              <a:gd name="connsiteX113" fmla="*/ 442018 w 1025102"/>
              <a:gd name="connsiteY113" fmla="*/ 29460 h 114334"/>
              <a:gd name="connsiteX114" fmla="*/ 442018 w 1025102"/>
              <a:gd name="connsiteY114" fmla="*/ 41033 h 114334"/>
              <a:gd name="connsiteX115" fmla="*/ 429550 w 1025102"/>
              <a:gd name="connsiteY115" fmla="*/ 41033 h 114334"/>
              <a:gd name="connsiteX116" fmla="*/ 429550 w 1025102"/>
              <a:gd name="connsiteY116" fmla="*/ 70647 h 114334"/>
              <a:gd name="connsiteX117" fmla="*/ 435722 w 1025102"/>
              <a:gd name="connsiteY117" fmla="*/ 76971 h 114334"/>
              <a:gd name="connsiteX118" fmla="*/ 442732 w 1025102"/>
              <a:gd name="connsiteY118" fmla="*/ 76304 h 114334"/>
              <a:gd name="connsiteX119" fmla="*/ 442732 w 1025102"/>
              <a:gd name="connsiteY119" fmla="*/ 87134 h 114334"/>
              <a:gd name="connsiteX120" fmla="*/ 434570 w 1025102"/>
              <a:gd name="connsiteY120" fmla="*/ 88211 h 114334"/>
              <a:gd name="connsiteX121" fmla="*/ 417644 w 1025102"/>
              <a:gd name="connsiteY121" fmla="*/ 71180 h 114334"/>
              <a:gd name="connsiteX122" fmla="*/ 417644 w 1025102"/>
              <a:gd name="connsiteY122" fmla="*/ 41033 h 114334"/>
              <a:gd name="connsiteX123" fmla="*/ 407442 w 1025102"/>
              <a:gd name="connsiteY123" fmla="*/ 41033 h 114334"/>
              <a:gd name="connsiteX124" fmla="*/ 309849 w 1025102"/>
              <a:gd name="connsiteY124" fmla="*/ 29460 h 114334"/>
              <a:gd name="connsiteX125" fmla="*/ 296571 w 1025102"/>
              <a:gd name="connsiteY125" fmla="*/ 29460 h 114334"/>
              <a:gd name="connsiteX126" fmla="*/ 317441 w 1025102"/>
              <a:gd name="connsiteY126" fmla="*/ 87620 h 114334"/>
              <a:gd name="connsiteX127" fmla="*/ 328156 w 1025102"/>
              <a:gd name="connsiteY127" fmla="*/ 87620 h 114334"/>
              <a:gd name="connsiteX128" fmla="*/ 339910 w 1025102"/>
              <a:gd name="connsiteY128" fmla="*/ 50301 h 114334"/>
              <a:gd name="connsiteX129" fmla="*/ 351702 w 1025102"/>
              <a:gd name="connsiteY129" fmla="*/ 87620 h 114334"/>
              <a:gd name="connsiteX130" fmla="*/ 362456 w 1025102"/>
              <a:gd name="connsiteY130" fmla="*/ 87620 h 114334"/>
              <a:gd name="connsiteX131" fmla="*/ 383296 w 1025102"/>
              <a:gd name="connsiteY131" fmla="*/ 29460 h 114334"/>
              <a:gd name="connsiteX132" fmla="*/ 370123 w 1025102"/>
              <a:gd name="connsiteY132" fmla="*/ 29460 h 114334"/>
              <a:gd name="connsiteX133" fmla="*/ 357179 w 1025102"/>
              <a:gd name="connsiteY133" fmla="*/ 66894 h 114334"/>
              <a:gd name="connsiteX134" fmla="*/ 345216 w 1025102"/>
              <a:gd name="connsiteY134" fmla="*/ 29460 h 114334"/>
              <a:gd name="connsiteX135" fmla="*/ 334509 w 1025102"/>
              <a:gd name="connsiteY135" fmla="*/ 29460 h 114334"/>
              <a:gd name="connsiteX136" fmla="*/ 322679 w 1025102"/>
              <a:gd name="connsiteY136" fmla="*/ 67151 h 114334"/>
              <a:gd name="connsiteX137" fmla="*/ 309840 w 1025102"/>
              <a:gd name="connsiteY137" fmla="*/ 29460 h 114334"/>
              <a:gd name="connsiteX138" fmla="*/ 211589 w 1025102"/>
              <a:gd name="connsiteY138" fmla="*/ 59007 h 114334"/>
              <a:gd name="connsiteX139" fmla="*/ 242288 w 1025102"/>
              <a:gd name="connsiteY139" fmla="*/ 88811 h 114334"/>
              <a:gd name="connsiteX140" fmla="*/ 268330 w 1025102"/>
              <a:gd name="connsiteY140" fmla="*/ 72437 h 114334"/>
              <a:gd name="connsiteX141" fmla="*/ 258833 w 1025102"/>
              <a:gd name="connsiteY141" fmla="*/ 67189 h 114334"/>
              <a:gd name="connsiteX142" fmla="*/ 242279 w 1025102"/>
              <a:gd name="connsiteY142" fmla="*/ 77609 h 114334"/>
              <a:gd name="connsiteX143" fmla="*/ 224267 w 1025102"/>
              <a:gd name="connsiteY143" fmla="*/ 63131 h 114334"/>
              <a:gd name="connsiteX144" fmla="*/ 268320 w 1025102"/>
              <a:gd name="connsiteY144" fmla="*/ 63131 h 114334"/>
              <a:gd name="connsiteX145" fmla="*/ 268034 w 1025102"/>
              <a:gd name="connsiteY145" fmla="*/ 48282 h 114334"/>
              <a:gd name="connsiteX146" fmla="*/ 240993 w 1025102"/>
              <a:gd name="connsiteY146" fmla="*/ 28260 h 114334"/>
              <a:gd name="connsiteX147" fmla="*/ 211580 w 1025102"/>
              <a:gd name="connsiteY147" fmla="*/ 58997 h 114334"/>
              <a:gd name="connsiteX148" fmla="*/ 224572 w 1025102"/>
              <a:gd name="connsiteY148" fmla="*/ 51863 h 114334"/>
              <a:gd name="connsiteX149" fmla="*/ 256462 w 1025102"/>
              <a:gd name="connsiteY149" fmla="*/ 51863 h 114334"/>
              <a:gd name="connsiteX150" fmla="*/ 241003 w 1025102"/>
              <a:gd name="connsiteY150" fmla="*/ 39471 h 114334"/>
              <a:gd name="connsiteX151" fmla="*/ 224572 w 1025102"/>
              <a:gd name="connsiteY151" fmla="*/ 51863 h 114334"/>
              <a:gd name="connsiteX152" fmla="*/ 141152 w 1025102"/>
              <a:gd name="connsiteY152" fmla="*/ 59007 h 114334"/>
              <a:gd name="connsiteX153" fmla="*/ 171108 w 1025102"/>
              <a:gd name="connsiteY153" fmla="*/ 88849 h 114334"/>
              <a:gd name="connsiteX154" fmla="*/ 189787 w 1025102"/>
              <a:gd name="connsiteY154" fmla="*/ 82448 h 114334"/>
              <a:gd name="connsiteX155" fmla="*/ 189787 w 1025102"/>
              <a:gd name="connsiteY155" fmla="*/ 87658 h 114334"/>
              <a:gd name="connsiteX156" fmla="*/ 201617 w 1025102"/>
              <a:gd name="connsiteY156" fmla="*/ 87658 h 114334"/>
              <a:gd name="connsiteX157" fmla="*/ 201617 w 1025102"/>
              <a:gd name="connsiteY157" fmla="*/ 7210 h 114334"/>
              <a:gd name="connsiteX158" fmla="*/ 189634 w 1025102"/>
              <a:gd name="connsiteY158" fmla="*/ 7210 h 114334"/>
              <a:gd name="connsiteX159" fmla="*/ 189634 w 1025102"/>
              <a:gd name="connsiteY159" fmla="*/ 34718 h 114334"/>
              <a:gd name="connsiteX160" fmla="*/ 171251 w 1025102"/>
              <a:gd name="connsiteY160" fmla="*/ 28241 h 114334"/>
              <a:gd name="connsiteX161" fmla="*/ 141152 w 1025102"/>
              <a:gd name="connsiteY161" fmla="*/ 59007 h 114334"/>
              <a:gd name="connsiteX162" fmla="*/ 153620 w 1025102"/>
              <a:gd name="connsiteY162" fmla="*/ 58245 h 114334"/>
              <a:gd name="connsiteX163" fmla="*/ 171108 w 1025102"/>
              <a:gd name="connsiteY163" fmla="*/ 77085 h 114334"/>
              <a:gd name="connsiteX164" fmla="*/ 189579 w 1025102"/>
              <a:gd name="connsiteY164" fmla="*/ 59761 h 114334"/>
              <a:gd name="connsiteX165" fmla="*/ 189587 w 1025102"/>
              <a:gd name="connsiteY165" fmla="*/ 58950 h 114334"/>
              <a:gd name="connsiteX166" fmla="*/ 170803 w 1025102"/>
              <a:gd name="connsiteY166" fmla="*/ 39995 h 114334"/>
              <a:gd name="connsiteX167" fmla="*/ 153611 w 1025102"/>
              <a:gd name="connsiteY167" fmla="*/ 58245 h 114334"/>
              <a:gd name="connsiteX168" fmla="*/ 884026 w 1025102"/>
              <a:gd name="connsiteY168" fmla="*/ 57978 h 114334"/>
              <a:gd name="connsiteX169" fmla="*/ 854070 w 1025102"/>
              <a:gd name="connsiteY169" fmla="*/ 28136 h 114334"/>
              <a:gd name="connsiteX170" fmla="*/ 835391 w 1025102"/>
              <a:gd name="connsiteY170" fmla="*/ 34537 h 114334"/>
              <a:gd name="connsiteX171" fmla="*/ 835391 w 1025102"/>
              <a:gd name="connsiteY171" fmla="*/ 29327 h 114334"/>
              <a:gd name="connsiteX172" fmla="*/ 823561 w 1025102"/>
              <a:gd name="connsiteY172" fmla="*/ 29327 h 114334"/>
              <a:gd name="connsiteX173" fmla="*/ 823561 w 1025102"/>
              <a:gd name="connsiteY173" fmla="*/ 107623 h 114334"/>
              <a:gd name="connsiteX174" fmla="*/ 835544 w 1025102"/>
              <a:gd name="connsiteY174" fmla="*/ 107623 h 114334"/>
              <a:gd name="connsiteX175" fmla="*/ 835544 w 1025102"/>
              <a:gd name="connsiteY175" fmla="*/ 82267 h 114334"/>
              <a:gd name="connsiteX176" fmla="*/ 853927 w 1025102"/>
              <a:gd name="connsiteY176" fmla="*/ 88744 h 114334"/>
              <a:gd name="connsiteX177" fmla="*/ 884026 w 1025102"/>
              <a:gd name="connsiteY177" fmla="*/ 57978 h 114334"/>
              <a:gd name="connsiteX178" fmla="*/ 871558 w 1025102"/>
              <a:gd name="connsiteY178" fmla="*/ 58740 h 114334"/>
              <a:gd name="connsiteX179" fmla="*/ 854070 w 1025102"/>
              <a:gd name="connsiteY179" fmla="*/ 39900 h 114334"/>
              <a:gd name="connsiteX180" fmla="*/ 835599 w 1025102"/>
              <a:gd name="connsiteY180" fmla="*/ 57225 h 114334"/>
              <a:gd name="connsiteX181" fmla="*/ 835591 w 1025102"/>
              <a:gd name="connsiteY181" fmla="*/ 58035 h 114334"/>
              <a:gd name="connsiteX182" fmla="*/ 854374 w 1025102"/>
              <a:gd name="connsiteY182" fmla="*/ 76990 h 114334"/>
              <a:gd name="connsiteX183" fmla="*/ 871558 w 1025102"/>
              <a:gd name="connsiteY183" fmla="*/ 58740 h 114334"/>
              <a:gd name="connsiteX184" fmla="*/ 975771 w 1025102"/>
              <a:gd name="connsiteY184" fmla="*/ 87887 h 114334"/>
              <a:gd name="connsiteX185" fmla="*/ 975771 w 1025102"/>
              <a:gd name="connsiteY185" fmla="*/ 29432 h 114334"/>
              <a:gd name="connsiteX186" fmla="*/ 987715 w 1025102"/>
              <a:gd name="connsiteY186" fmla="*/ 29432 h 114334"/>
              <a:gd name="connsiteX187" fmla="*/ 987715 w 1025102"/>
              <a:gd name="connsiteY187" fmla="*/ 33070 h 114334"/>
              <a:gd name="connsiteX188" fmla="*/ 1001717 w 1025102"/>
              <a:gd name="connsiteY188" fmla="*/ 28451 h 114334"/>
              <a:gd name="connsiteX189" fmla="*/ 1025120 w 1025102"/>
              <a:gd name="connsiteY189" fmla="*/ 51768 h 114334"/>
              <a:gd name="connsiteX190" fmla="*/ 1025120 w 1025102"/>
              <a:gd name="connsiteY190" fmla="*/ 87887 h 114334"/>
              <a:gd name="connsiteX191" fmla="*/ 1013023 w 1025102"/>
              <a:gd name="connsiteY191" fmla="*/ 87887 h 114334"/>
              <a:gd name="connsiteX192" fmla="*/ 1013023 w 1025102"/>
              <a:gd name="connsiteY192" fmla="*/ 52825 h 114334"/>
              <a:gd name="connsiteX193" fmla="*/ 1000497 w 1025102"/>
              <a:gd name="connsiteY193" fmla="*/ 40071 h 114334"/>
              <a:gd name="connsiteX194" fmla="*/ 987715 w 1025102"/>
              <a:gd name="connsiteY194" fmla="*/ 52825 h 114334"/>
              <a:gd name="connsiteX195" fmla="*/ 987715 w 1025102"/>
              <a:gd name="connsiteY195" fmla="*/ 87887 h 114334"/>
              <a:gd name="connsiteX196" fmla="*/ 975771 w 1025102"/>
              <a:gd name="connsiteY196" fmla="*/ 87887 h 114334"/>
              <a:gd name="connsiteX197" fmla="*/ 686372 w 1025102"/>
              <a:gd name="connsiteY197" fmla="*/ 87687 h 114334"/>
              <a:gd name="connsiteX198" fmla="*/ 686372 w 1025102"/>
              <a:gd name="connsiteY198" fmla="*/ 8363 h 114334"/>
              <a:gd name="connsiteX199" fmla="*/ 696698 w 1025102"/>
              <a:gd name="connsiteY199" fmla="*/ 8363 h 114334"/>
              <a:gd name="connsiteX200" fmla="*/ 736845 w 1025102"/>
              <a:gd name="connsiteY200" fmla="*/ 63389 h 114334"/>
              <a:gd name="connsiteX201" fmla="*/ 736845 w 1025102"/>
              <a:gd name="connsiteY201" fmla="*/ 8363 h 114334"/>
              <a:gd name="connsiteX202" fmla="*/ 749418 w 1025102"/>
              <a:gd name="connsiteY202" fmla="*/ 8363 h 114334"/>
              <a:gd name="connsiteX203" fmla="*/ 749418 w 1025102"/>
              <a:gd name="connsiteY203" fmla="*/ 87687 h 114334"/>
              <a:gd name="connsiteX204" fmla="*/ 738998 w 1025102"/>
              <a:gd name="connsiteY204" fmla="*/ 87687 h 114334"/>
              <a:gd name="connsiteX205" fmla="*/ 698926 w 1025102"/>
              <a:gd name="connsiteY205" fmla="*/ 32480 h 114334"/>
              <a:gd name="connsiteX206" fmla="*/ 698926 w 1025102"/>
              <a:gd name="connsiteY206" fmla="*/ 87687 h 114334"/>
              <a:gd name="connsiteX207" fmla="*/ 686363 w 1025102"/>
              <a:gd name="connsiteY207" fmla="*/ 87687 h 114334"/>
              <a:gd name="connsiteX208" fmla="*/ 11831 w 1025102"/>
              <a:gd name="connsiteY208" fmla="*/ 87658 h 114334"/>
              <a:gd name="connsiteX209" fmla="*/ 20 w 1025102"/>
              <a:gd name="connsiteY209" fmla="*/ 87658 h 114334"/>
              <a:gd name="connsiteX210" fmla="*/ 20 w 1025102"/>
              <a:gd name="connsiteY210" fmla="*/ 13630 h 114334"/>
              <a:gd name="connsiteX211" fmla="*/ 9678 w 1025102"/>
              <a:gd name="connsiteY211" fmla="*/ 13630 h 114334"/>
              <a:gd name="connsiteX212" fmla="*/ 35053 w 1025102"/>
              <a:gd name="connsiteY212" fmla="*/ 47891 h 114334"/>
              <a:gd name="connsiteX213" fmla="*/ 60332 w 1025102"/>
              <a:gd name="connsiteY213" fmla="*/ 13678 h 114334"/>
              <a:gd name="connsiteX214" fmla="*/ 70143 w 1025102"/>
              <a:gd name="connsiteY214" fmla="*/ 13678 h 114334"/>
              <a:gd name="connsiteX215" fmla="*/ 70143 w 1025102"/>
              <a:gd name="connsiteY215" fmla="*/ 87649 h 114334"/>
              <a:gd name="connsiteX216" fmla="*/ 58180 w 1025102"/>
              <a:gd name="connsiteY216" fmla="*/ 87649 h 114334"/>
              <a:gd name="connsiteX217" fmla="*/ 58180 w 1025102"/>
              <a:gd name="connsiteY217" fmla="*/ 36347 h 114334"/>
              <a:gd name="connsiteX218" fmla="*/ 35053 w 1025102"/>
              <a:gd name="connsiteY218" fmla="*/ 67837 h 114334"/>
              <a:gd name="connsiteX219" fmla="*/ 11831 w 1025102"/>
              <a:gd name="connsiteY219" fmla="*/ 36157 h 114334"/>
              <a:gd name="connsiteX220" fmla="*/ 11831 w 1025102"/>
              <a:gd name="connsiteY220" fmla="*/ 87658 h 114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</a:cxnLst>
            <a:rect l="l" t="t" r="r" b="b"/>
            <a:pathLst>
              <a:path w="1025102" h="114334">
                <a:moveTo>
                  <a:pt x="583741" y="112499"/>
                </a:moveTo>
                <a:cubicBezTo>
                  <a:pt x="584223" y="114276"/>
                  <a:pt x="586055" y="115325"/>
                  <a:pt x="587832" y="114843"/>
                </a:cubicBezTo>
                <a:cubicBezTo>
                  <a:pt x="588387" y="114692"/>
                  <a:pt x="588894" y="114400"/>
                  <a:pt x="589303" y="113995"/>
                </a:cubicBezTo>
                <a:lnTo>
                  <a:pt x="638862" y="65027"/>
                </a:lnTo>
                <a:lnTo>
                  <a:pt x="579969" y="98583"/>
                </a:lnTo>
                <a:lnTo>
                  <a:pt x="583741" y="112499"/>
                </a:lnTo>
                <a:close/>
                <a:moveTo>
                  <a:pt x="562633" y="1057"/>
                </a:moveTo>
                <a:cubicBezTo>
                  <a:pt x="561030" y="152"/>
                  <a:pt x="558996" y="719"/>
                  <a:pt x="558091" y="2322"/>
                </a:cubicBezTo>
                <a:cubicBezTo>
                  <a:pt x="557809" y="2822"/>
                  <a:pt x="557661" y="3387"/>
                  <a:pt x="557661" y="3962"/>
                </a:cubicBezTo>
                <a:lnTo>
                  <a:pt x="557661" y="33594"/>
                </a:lnTo>
                <a:lnTo>
                  <a:pt x="588865" y="15802"/>
                </a:lnTo>
                <a:lnTo>
                  <a:pt x="562633" y="1057"/>
                </a:lnTo>
                <a:close/>
                <a:moveTo>
                  <a:pt x="598142" y="21107"/>
                </a:moveTo>
                <a:lnTo>
                  <a:pt x="557661" y="44167"/>
                </a:lnTo>
                <a:lnTo>
                  <a:pt x="557661" y="67456"/>
                </a:lnTo>
                <a:lnTo>
                  <a:pt x="618535" y="32747"/>
                </a:lnTo>
                <a:lnTo>
                  <a:pt x="598142" y="21107"/>
                </a:lnTo>
                <a:close/>
                <a:moveTo>
                  <a:pt x="642986" y="52568"/>
                </a:moveTo>
                <a:cubicBezTo>
                  <a:pt x="644588" y="51660"/>
                  <a:pt x="645151" y="49626"/>
                  <a:pt x="644243" y="48024"/>
                </a:cubicBezTo>
                <a:cubicBezTo>
                  <a:pt x="643945" y="47499"/>
                  <a:pt x="643511" y="47065"/>
                  <a:pt x="642986" y="46767"/>
                </a:cubicBezTo>
                <a:lnTo>
                  <a:pt x="627822" y="38195"/>
                </a:lnTo>
                <a:lnTo>
                  <a:pt x="557671" y="78190"/>
                </a:lnTo>
                <a:lnTo>
                  <a:pt x="557671" y="95164"/>
                </a:lnTo>
                <a:cubicBezTo>
                  <a:pt x="557667" y="97005"/>
                  <a:pt x="559156" y="98501"/>
                  <a:pt x="560997" y="98505"/>
                </a:cubicBezTo>
                <a:cubicBezTo>
                  <a:pt x="561578" y="98506"/>
                  <a:pt x="562148" y="98356"/>
                  <a:pt x="562652" y="98069"/>
                </a:cubicBezTo>
                <a:lnTo>
                  <a:pt x="642996" y="52568"/>
                </a:lnTo>
                <a:close/>
                <a:moveTo>
                  <a:pt x="386183" y="14925"/>
                </a:moveTo>
                <a:cubicBezTo>
                  <a:pt x="386183" y="10801"/>
                  <a:pt x="389564" y="7467"/>
                  <a:pt x="393726" y="7467"/>
                </a:cubicBezTo>
                <a:cubicBezTo>
                  <a:pt x="397889" y="7467"/>
                  <a:pt x="401270" y="10801"/>
                  <a:pt x="401270" y="14925"/>
                </a:cubicBezTo>
                <a:cubicBezTo>
                  <a:pt x="401270" y="19050"/>
                  <a:pt x="397889" y="22383"/>
                  <a:pt x="393726" y="22383"/>
                </a:cubicBezTo>
                <a:cubicBezTo>
                  <a:pt x="389564" y="22383"/>
                  <a:pt x="386183" y="19050"/>
                  <a:pt x="386183" y="14925"/>
                </a:cubicBezTo>
                <a:close/>
                <a:moveTo>
                  <a:pt x="949786" y="14925"/>
                </a:moveTo>
                <a:cubicBezTo>
                  <a:pt x="949786" y="10801"/>
                  <a:pt x="953168" y="7467"/>
                  <a:pt x="957330" y="7467"/>
                </a:cubicBezTo>
                <a:cubicBezTo>
                  <a:pt x="961493" y="7467"/>
                  <a:pt x="964874" y="10801"/>
                  <a:pt x="964874" y="14925"/>
                </a:cubicBezTo>
                <a:cubicBezTo>
                  <a:pt x="964874" y="19050"/>
                  <a:pt x="961493" y="22383"/>
                  <a:pt x="957330" y="22383"/>
                </a:cubicBezTo>
                <a:cubicBezTo>
                  <a:pt x="953168" y="22383"/>
                  <a:pt x="949786" y="19050"/>
                  <a:pt x="949786" y="14925"/>
                </a:cubicBezTo>
                <a:close/>
                <a:moveTo>
                  <a:pt x="131103" y="87658"/>
                </a:moveTo>
                <a:lnTo>
                  <a:pt x="119006" y="87658"/>
                </a:lnTo>
                <a:lnTo>
                  <a:pt x="119006" y="83020"/>
                </a:lnTo>
                <a:cubicBezTo>
                  <a:pt x="116377" y="84934"/>
                  <a:pt x="110777" y="88820"/>
                  <a:pt x="101090" y="88820"/>
                </a:cubicBezTo>
                <a:cubicBezTo>
                  <a:pt x="89641" y="88820"/>
                  <a:pt x="79430" y="81257"/>
                  <a:pt x="80735" y="69027"/>
                </a:cubicBezTo>
                <a:cubicBezTo>
                  <a:pt x="81859" y="58493"/>
                  <a:pt x="91717" y="53940"/>
                  <a:pt x="98337" y="52578"/>
                </a:cubicBezTo>
                <a:lnTo>
                  <a:pt x="119006" y="49292"/>
                </a:lnTo>
                <a:cubicBezTo>
                  <a:pt x="119006" y="44158"/>
                  <a:pt x="116244" y="40186"/>
                  <a:pt x="108872" y="39709"/>
                </a:cubicBezTo>
                <a:cubicBezTo>
                  <a:pt x="101499" y="39233"/>
                  <a:pt x="97346" y="42614"/>
                  <a:pt x="93908" y="49396"/>
                </a:cubicBezTo>
                <a:lnTo>
                  <a:pt x="83202" y="43634"/>
                </a:lnTo>
                <a:cubicBezTo>
                  <a:pt x="94803" y="18573"/>
                  <a:pt x="131103" y="26832"/>
                  <a:pt x="131103" y="47577"/>
                </a:cubicBezTo>
                <a:lnTo>
                  <a:pt x="131103" y="87649"/>
                </a:lnTo>
                <a:close/>
                <a:moveTo>
                  <a:pt x="119006" y="60417"/>
                </a:moveTo>
                <a:cubicBezTo>
                  <a:pt x="119063" y="64189"/>
                  <a:pt x="118416" y="71009"/>
                  <a:pt x="111205" y="75561"/>
                </a:cubicBezTo>
                <a:cubicBezTo>
                  <a:pt x="105614" y="79086"/>
                  <a:pt x="93670" y="78409"/>
                  <a:pt x="93079" y="71799"/>
                </a:cubicBezTo>
                <a:cubicBezTo>
                  <a:pt x="92613" y="66513"/>
                  <a:pt x="97470" y="64265"/>
                  <a:pt x="101709" y="63246"/>
                </a:cubicBezTo>
                <a:lnTo>
                  <a:pt x="119006" y="60417"/>
                </a:lnTo>
                <a:close/>
                <a:moveTo>
                  <a:pt x="811112" y="87658"/>
                </a:moveTo>
                <a:lnTo>
                  <a:pt x="799015" y="87658"/>
                </a:lnTo>
                <a:lnTo>
                  <a:pt x="799015" y="83020"/>
                </a:lnTo>
                <a:cubicBezTo>
                  <a:pt x="796386" y="84934"/>
                  <a:pt x="790785" y="88820"/>
                  <a:pt x="781099" y="88820"/>
                </a:cubicBezTo>
                <a:cubicBezTo>
                  <a:pt x="769650" y="88820"/>
                  <a:pt x="759439" y="81257"/>
                  <a:pt x="760744" y="69027"/>
                </a:cubicBezTo>
                <a:cubicBezTo>
                  <a:pt x="761868" y="58493"/>
                  <a:pt x="771726" y="53940"/>
                  <a:pt x="778346" y="52578"/>
                </a:cubicBezTo>
                <a:lnTo>
                  <a:pt x="799015" y="49292"/>
                </a:lnTo>
                <a:cubicBezTo>
                  <a:pt x="799015" y="44158"/>
                  <a:pt x="796253" y="40186"/>
                  <a:pt x="788881" y="39709"/>
                </a:cubicBezTo>
                <a:cubicBezTo>
                  <a:pt x="781508" y="39233"/>
                  <a:pt x="777355" y="42614"/>
                  <a:pt x="773917" y="49396"/>
                </a:cubicBezTo>
                <a:lnTo>
                  <a:pt x="763211" y="43634"/>
                </a:lnTo>
                <a:cubicBezTo>
                  <a:pt x="774812" y="18573"/>
                  <a:pt x="811112" y="26832"/>
                  <a:pt x="811112" y="47577"/>
                </a:cubicBezTo>
                <a:lnTo>
                  <a:pt x="811112" y="87649"/>
                </a:lnTo>
                <a:close/>
                <a:moveTo>
                  <a:pt x="799015" y="60417"/>
                </a:moveTo>
                <a:cubicBezTo>
                  <a:pt x="799072" y="64189"/>
                  <a:pt x="798425" y="71009"/>
                  <a:pt x="791205" y="75561"/>
                </a:cubicBezTo>
                <a:cubicBezTo>
                  <a:pt x="785613" y="79086"/>
                  <a:pt x="773669" y="78409"/>
                  <a:pt x="773079" y="71799"/>
                </a:cubicBezTo>
                <a:cubicBezTo>
                  <a:pt x="772612" y="66513"/>
                  <a:pt x="777470" y="64265"/>
                  <a:pt x="781708" y="63246"/>
                </a:cubicBezTo>
                <a:lnTo>
                  <a:pt x="799006" y="60417"/>
                </a:lnTo>
                <a:close/>
                <a:moveTo>
                  <a:pt x="905809" y="87658"/>
                </a:moveTo>
                <a:lnTo>
                  <a:pt x="893941" y="87658"/>
                </a:lnTo>
                <a:lnTo>
                  <a:pt x="893941" y="7172"/>
                </a:lnTo>
                <a:lnTo>
                  <a:pt x="905809" y="7172"/>
                </a:lnTo>
                <a:lnTo>
                  <a:pt x="905809" y="53797"/>
                </a:lnTo>
                <a:lnTo>
                  <a:pt x="931336" y="29422"/>
                </a:lnTo>
                <a:lnTo>
                  <a:pt x="947891" y="29422"/>
                </a:lnTo>
                <a:lnTo>
                  <a:pt x="922812" y="53568"/>
                </a:lnTo>
                <a:lnTo>
                  <a:pt x="948672" y="87649"/>
                </a:lnTo>
                <a:lnTo>
                  <a:pt x="933851" y="87649"/>
                </a:lnTo>
                <a:lnTo>
                  <a:pt x="914068" y="61865"/>
                </a:lnTo>
                <a:lnTo>
                  <a:pt x="905809" y="69904"/>
                </a:lnTo>
                <a:lnTo>
                  <a:pt x="905809" y="87649"/>
                </a:lnTo>
                <a:close/>
                <a:moveTo>
                  <a:pt x="963464" y="29422"/>
                </a:moveTo>
                <a:lnTo>
                  <a:pt x="951510" y="29422"/>
                </a:lnTo>
                <a:lnTo>
                  <a:pt x="951510" y="87649"/>
                </a:lnTo>
                <a:lnTo>
                  <a:pt x="963464" y="87649"/>
                </a:lnTo>
                <a:lnTo>
                  <a:pt x="963464" y="29422"/>
                </a:lnTo>
                <a:close/>
                <a:moveTo>
                  <a:pt x="399584" y="29422"/>
                </a:moveTo>
                <a:lnTo>
                  <a:pt x="387630" y="29422"/>
                </a:lnTo>
                <a:lnTo>
                  <a:pt x="387630" y="87649"/>
                </a:lnTo>
                <a:lnTo>
                  <a:pt x="399584" y="87649"/>
                </a:lnTo>
                <a:lnTo>
                  <a:pt x="399584" y="29422"/>
                </a:lnTo>
                <a:close/>
                <a:moveTo>
                  <a:pt x="452772" y="87649"/>
                </a:moveTo>
                <a:lnTo>
                  <a:pt x="452772" y="7153"/>
                </a:lnTo>
                <a:lnTo>
                  <a:pt x="464726" y="7153"/>
                </a:lnTo>
                <a:lnTo>
                  <a:pt x="464726" y="32823"/>
                </a:lnTo>
                <a:cubicBezTo>
                  <a:pt x="468164" y="29527"/>
                  <a:pt x="474251" y="28203"/>
                  <a:pt x="478727" y="28203"/>
                </a:cubicBezTo>
                <a:cubicBezTo>
                  <a:pt x="492558" y="28203"/>
                  <a:pt x="502321" y="38509"/>
                  <a:pt x="502130" y="51520"/>
                </a:cubicBezTo>
                <a:lnTo>
                  <a:pt x="502130" y="87639"/>
                </a:lnTo>
                <a:lnTo>
                  <a:pt x="490034" y="87639"/>
                </a:lnTo>
                <a:lnTo>
                  <a:pt x="490034" y="52587"/>
                </a:lnTo>
                <a:cubicBezTo>
                  <a:pt x="490034" y="48701"/>
                  <a:pt x="487995" y="39833"/>
                  <a:pt x="477508" y="39833"/>
                </a:cubicBezTo>
                <a:cubicBezTo>
                  <a:pt x="468288" y="39833"/>
                  <a:pt x="464726" y="47034"/>
                  <a:pt x="464726" y="52587"/>
                </a:cubicBezTo>
                <a:lnTo>
                  <a:pt x="464726" y="87649"/>
                </a:lnTo>
                <a:lnTo>
                  <a:pt x="452772" y="87649"/>
                </a:lnTo>
                <a:close/>
                <a:moveTo>
                  <a:pt x="407433" y="41033"/>
                </a:moveTo>
                <a:lnTo>
                  <a:pt x="407433" y="29460"/>
                </a:lnTo>
                <a:lnTo>
                  <a:pt x="413348" y="29460"/>
                </a:lnTo>
                <a:cubicBezTo>
                  <a:pt x="415715" y="29460"/>
                  <a:pt x="417634" y="27541"/>
                  <a:pt x="417634" y="25174"/>
                </a:cubicBezTo>
                <a:lnTo>
                  <a:pt x="417634" y="17030"/>
                </a:lnTo>
                <a:lnTo>
                  <a:pt x="429550" y="17030"/>
                </a:lnTo>
                <a:lnTo>
                  <a:pt x="429550" y="29460"/>
                </a:lnTo>
                <a:lnTo>
                  <a:pt x="442018" y="29460"/>
                </a:lnTo>
                <a:lnTo>
                  <a:pt x="442018" y="41033"/>
                </a:lnTo>
                <a:lnTo>
                  <a:pt x="429550" y="41033"/>
                </a:lnTo>
                <a:lnTo>
                  <a:pt x="429550" y="70647"/>
                </a:lnTo>
                <a:cubicBezTo>
                  <a:pt x="429550" y="73437"/>
                  <a:pt x="430550" y="76971"/>
                  <a:pt x="435722" y="76971"/>
                </a:cubicBezTo>
                <a:cubicBezTo>
                  <a:pt x="439199" y="76971"/>
                  <a:pt x="440780" y="76638"/>
                  <a:pt x="442732" y="76304"/>
                </a:cubicBezTo>
                <a:lnTo>
                  <a:pt x="442732" y="87134"/>
                </a:lnTo>
                <a:cubicBezTo>
                  <a:pt x="442732" y="87134"/>
                  <a:pt x="439294" y="88211"/>
                  <a:pt x="434570" y="88211"/>
                </a:cubicBezTo>
                <a:cubicBezTo>
                  <a:pt x="421254" y="88211"/>
                  <a:pt x="417644" y="78200"/>
                  <a:pt x="417644" y="71180"/>
                </a:cubicBezTo>
                <a:lnTo>
                  <a:pt x="417644" y="41033"/>
                </a:lnTo>
                <a:lnTo>
                  <a:pt x="407442" y="41033"/>
                </a:lnTo>
                <a:close/>
                <a:moveTo>
                  <a:pt x="309849" y="29460"/>
                </a:moveTo>
                <a:lnTo>
                  <a:pt x="296571" y="29460"/>
                </a:lnTo>
                <a:lnTo>
                  <a:pt x="317441" y="87620"/>
                </a:lnTo>
                <a:lnTo>
                  <a:pt x="328156" y="87620"/>
                </a:lnTo>
                <a:lnTo>
                  <a:pt x="339910" y="50301"/>
                </a:lnTo>
                <a:lnTo>
                  <a:pt x="351702" y="87620"/>
                </a:lnTo>
                <a:lnTo>
                  <a:pt x="362456" y="87620"/>
                </a:lnTo>
                <a:lnTo>
                  <a:pt x="383296" y="29460"/>
                </a:lnTo>
                <a:lnTo>
                  <a:pt x="370123" y="29460"/>
                </a:lnTo>
                <a:lnTo>
                  <a:pt x="357179" y="66894"/>
                </a:lnTo>
                <a:lnTo>
                  <a:pt x="345216" y="29460"/>
                </a:lnTo>
                <a:lnTo>
                  <a:pt x="334509" y="29460"/>
                </a:lnTo>
                <a:lnTo>
                  <a:pt x="322679" y="67151"/>
                </a:lnTo>
                <a:lnTo>
                  <a:pt x="309840" y="29460"/>
                </a:lnTo>
                <a:close/>
                <a:moveTo>
                  <a:pt x="211589" y="59007"/>
                </a:moveTo>
                <a:cubicBezTo>
                  <a:pt x="211399" y="73923"/>
                  <a:pt x="222895" y="88811"/>
                  <a:pt x="242288" y="88811"/>
                </a:cubicBezTo>
                <a:cubicBezTo>
                  <a:pt x="257205" y="88811"/>
                  <a:pt x="264986" y="80067"/>
                  <a:pt x="268330" y="72437"/>
                </a:cubicBezTo>
                <a:lnTo>
                  <a:pt x="258833" y="67189"/>
                </a:lnTo>
                <a:cubicBezTo>
                  <a:pt x="255833" y="70989"/>
                  <a:pt x="251204" y="77609"/>
                  <a:pt x="242279" y="77609"/>
                </a:cubicBezTo>
                <a:cubicBezTo>
                  <a:pt x="231373" y="77609"/>
                  <a:pt x="224896" y="70170"/>
                  <a:pt x="224267" y="63131"/>
                </a:cubicBezTo>
                <a:lnTo>
                  <a:pt x="268320" y="63131"/>
                </a:lnTo>
                <a:cubicBezTo>
                  <a:pt x="269025" y="60426"/>
                  <a:pt x="269730" y="53654"/>
                  <a:pt x="268034" y="48282"/>
                </a:cubicBezTo>
                <a:cubicBezTo>
                  <a:pt x="264834" y="38147"/>
                  <a:pt x="256404" y="28260"/>
                  <a:pt x="240993" y="28260"/>
                </a:cubicBezTo>
                <a:cubicBezTo>
                  <a:pt x="225582" y="28260"/>
                  <a:pt x="211580" y="39233"/>
                  <a:pt x="211580" y="58997"/>
                </a:cubicBezTo>
                <a:close/>
                <a:moveTo>
                  <a:pt x="224572" y="51863"/>
                </a:moveTo>
                <a:lnTo>
                  <a:pt x="256462" y="51863"/>
                </a:lnTo>
                <a:cubicBezTo>
                  <a:pt x="255938" y="47768"/>
                  <a:pt x="251070" y="39471"/>
                  <a:pt x="241003" y="39471"/>
                </a:cubicBezTo>
                <a:cubicBezTo>
                  <a:pt x="233369" y="39458"/>
                  <a:pt x="226657" y="44520"/>
                  <a:pt x="224572" y="51863"/>
                </a:cubicBezTo>
                <a:close/>
                <a:moveTo>
                  <a:pt x="141152" y="59007"/>
                </a:moveTo>
                <a:cubicBezTo>
                  <a:pt x="141514" y="75752"/>
                  <a:pt x="153315" y="88849"/>
                  <a:pt x="171108" y="88849"/>
                </a:cubicBezTo>
                <a:cubicBezTo>
                  <a:pt x="181338" y="88849"/>
                  <a:pt x="187520" y="84305"/>
                  <a:pt x="189787" y="82448"/>
                </a:cubicBezTo>
                <a:lnTo>
                  <a:pt x="189787" y="87658"/>
                </a:lnTo>
                <a:lnTo>
                  <a:pt x="201617" y="87658"/>
                </a:lnTo>
                <a:lnTo>
                  <a:pt x="201617" y="7210"/>
                </a:lnTo>
                <a:lnTo>
                  <a:pt x="189634" y="7210"/>
                </a:lnTo>
                <a:lnTo>
                  <a:pt x="189634" y="34718"/>
                </a:lnTo>
                <a:cubicBezTo>
                  <a:pt x="185691" y="31289"/>
                  <a:pt x="179519" y="28241"/>
                  <a:pt x="171251" y="28241"/>
                </a:cubicBezTo>
                <a:cubicBezTo>
                  <a:pt x="153058" y="28241"/>
                  <a:pt x="140790" y="42272"/>
                  <a:pt x="141152" y="59007"/>
                </a:cubicBezTo>
                <a:close/>
                <a:moveTo>
                  <a:pt x="153620" y="58245"/>
                </a:moveTo>
                <a:cubicBezTo>
                  <a:pt x="153620" y="68903"/>
                  <a:pt x="160507" y="77085"/>
                  <a:pt x="171108" y="77085"/>
                </a:cubicBezTo>
                <a:cubicBezTo>
                  <a:pt x="180993" y="77402"/>
                  <a:pt x="189262" y="69645"/>
                  <a:pt x="189579" y="59761"/>
                </a:cubicBezTo>
                <a:cubicBezTo>
                  <a:pt x="189588" y="59491"/>
                  <a:pt x="189590" y="59220"/>
                  <a:pt x="189587" y="58950"/>
                </a:cubicBezTo>
                <a:cubicBezTo>
                  <a:pt x="189587" y="45891"/>
                  <a:pt x="179957" y="39995"/>
                  <a:pt x="170803" y="39995"/>
                </a:cubicBezTo>
                <a:cubicBezTo>
                  <a:pt x="161650" y="39995"/>
                  <a:pt x="153611" y="47596"/>
                  <a:pt x="153611" y="58245"/>
                </a:cubicBezTo>
                <a:close/>
                <a:moveTo>
                  <a:pt x="884026" y="57978"/>
                </a:moveTo>
                <a:cubicBezTo>
                  <a:pt x="883664" y="41233"/>
                  <a:pt x="871862" y="28136"/>
                  <a:pt x="854070" y="28136"/>
                </a:cubicBezTo>
                <a:cubicBezTo>
                  <a:pt x="843840" y="28136"/>
                  <a:pt x="837658" y="32680"/>
                  <a:pt x="835391" y="34537"/>
                </a:cubicBezTo>
                <a:lnTo>
                  <a:pt x="835391" y="29327"/>
                </a:lnTo>
                <a:lnTo>
                  <a:pt x="823561" y="29327"/>
                </a:lnTo>
                <a:lnTo>
                  <a:pt x="823561" y="107623"/>
                </a:lnTo>
                <a:lnTo>
                  <a:pt x="835544" y="107623"/>
                </a:lnTo>
                <a:lnTo>
                  <a:pt x="835544" y="82267"/>
                </a:lnTo>
                <a:cubicBezTo>
                  <a:pt x="839487" y="85696"/>
                  <a:pt x="845669" y="88744"/>
                  <a:pt x="853927" y="88744"/>
                </a:cubicBezTo>
                <a:cubicBezTo>
                  <a:pt x="872119" y="88744"/>
                  <a:pt x="884388" y="74714"/>
                  <a:pt x="884026" y="57978"/>
                </a:cubicBezTo>
                <a:close/>
                <a:moveTo>
                  <a:pt x="871558" y="58740"/>
                </a:moveTo>
                <a:cubicBezTo>
                  <a:pt x="871558" y="48082"/>
                  <a:pt x="864671" y="39900"/>
                  <a:pt x="854070" y="39900"/>
                </a:cubicBezTo>
                <a:cubicBezTo>
                  <a:pt x="844185" y="39583"/>
                  <a:pt x="835915" y="47340"/>
                  <a:pt x="835599" y="57225"/>
                </a:cubicBezTo>
                <a:cubicBezTo>
                  <a:pt x="835590" y="57495"/>
                  <a:pt x="835588" y="57765"/>
                  <a:pt x="835591" y="58035"/>
                </a:cubicBezTo>
                <a:cubicBezTo>
                  <a:pt x="835591" y="71094"/>
                  <a:pt x="845221" y="76990"/>
                  <a:pt x="854374" y="76990"/>
                </a:cubicBezTo>
                <a:cubicBezTo>
                  <a:pt x="863528" y="76990"/>
                  <a:pt x="871558" y="69389"/>
                  <a:pt x="871558" y="58740"/>
                </a:cubicBezTo>
                <a:close/>
                <a:moveTo>
                  <a:pt x="975771" y="87887"/>
                </a:moveTo>
                <a:lnTo>
                  <a:pt x="975771" y="29432"/>
                </a:lnTo>
                <a:lnTo>
                  <a:pt x="987715" y="29432"/>
                </a:lnTo>
                <a:lnTo>
                  <a:pt x="987715" y="33070"/>
                </a:lnTo>
                <a:cubicBezTo>
                  <a:pt x="991153" y="29775"/>
                  <a:pt x="997240" y="28451"/>
                  <a:pt x="1001717" y="28451"/>
                </a:cubicBezTo>
                <a:cubicBezTo>
                  <a:pt x="1015547" y="28451"/>
                  <a:pt x="1025310" y="38757"/>
                  <a:pt x="1025120" y="51768"/>
                </a:cubicBezTo>
                <a:lnTo>
                  <a:pt x="1025120" y="87887"/>
                </a:lnTo>
                <a:lnTo>
                  <a:pt x="1013023" y="87887"/>
                </a:lnTo>
                <a:lnTo>
                  <a:pt x="1013023" y="52825"/>
                </a:lnTo>
                <a:cubicBezTo>
                  <a:pt x="1013023" y="48939"/>
                  <a:pt x="1010984" y="40071"/>
                  <a:pt x="1000497" y="40071"/>
                </a:cubicBezTo>
                <a:cubicBezTo>
                  <a:pt x="991268" y="40071"/>
                  <a:pt x="987715" y="47272"/>
                  <a:pt x="987715" y="52825"/>
                </a:cubicBezTo>
                <a:lnTo>
                  <a:pt x="987715" y="87887"/>
                </a:lnTo>
                <a:lnTo>
                  <a:pt x="975771" y="87887"/>
                </a:lnTo>
                <a:close/>
                <a:moveTo>
                  <a:pt x="686372" y="87687"/>
                </a:moveTo>
                <a:lnTo>
                  <a:pt x="686372" y="8363"/>
                </a:lnTo>
                <a:lnTo>
                  <a:pt x="696698" y="8363"/>
                </a:lnTo>
                <a:lnTo>
                  <a:pt x="736845" y="63389"/>
                </a:lnTo>
                <a:lnTo>
                  <a:pt x="736845" y="8363"/>
                </a:lnTo>
                <a:lnTo>
                  <a:pt x="749418" y="8363"/>
                </a:lnTo>
                <a:lnTo>
                  <a:pt x="749418" y="87687"/>
                </a:lnTo>
                <a:lnTo>
                  <a:pt x="738998" y="87687"/>
                </a:lnTo>
                <a:lnTo>
                  <a:pt x="698926" y="32480"/>
                </a:lnTo>
                <a:lnTo>
                  <a:pt x="698926" y="87687"/>
                </a:lnTo>
                <a:lnTo>
                  <a:pt x="686363" y="87687"/>
                </a:lnTo>
                <a:close/>
                <a:moveTo>
                  <a:pt x="11831" y="87658"/>
                </a:moveTo>
                <a:lnTo>
                  <a:pt x="20" y="87658"/>
                </a:lnTo>
                <a:lnTo>
                  <a:pt x="20" y="13630"/>
                </a:lnTo>
                <a:lnTo>
                  <a:pt x="9678" y="13630"/>
                </a:lnTo>
                <a:lnTo>
                  <a:pt x="35053" y="47891"/>
                </a:lnTo>
                <a:lnTo>
                  <a:pt x="60332" y="13678"/>
                </a:lnTo>
                <a:lnTo>
                  <a:pt x="70143" y="13678"/>
                </a:lnTo>
                <a:lnTo>
                  <a:pt x="70143" y="87649"/>
                </a:lnTo>
                <a:lnTo>
                  <a:pt x="58180" y="87649"/>
                </a:lnTo>
                <a:lnTo>
                  <a:pt x="58180" y="36347"/>
                </a:lnTo>
                <a:lnTo>
                  <a:pt x="35053" y="67837"/>
                </a:lnTo>
                <a:lnTo>
                  <a:pt x="11831" y="36157"/>
                </a:lnTo>
                <a:lnTo>
                  <a:pt x="11831" y="87658"/>
                </a:lnTo>
                <a:close/>
              </a:path>
            </a:pathLst>
          </a:custGeom>
          <a:noFill/>
          <a:ln w="9525" cap="rnd">
            <a:noFill/>
            <a:prstDash val="solid"/>
            <a:round/>
          </a:ln>
        </p:spPr>
        <p:txBody>
          <a:bodyPr rtlCol="0" anchor="ctr"/>
          <a:lstStyle/>
          <a:p>
            <a:endParaRPr lang="en-IN"/>
          </a:p>
        </p:txBody>
      </p:sp>
      <p:pic>
        <p:nvPicPr>
          <p:cNvPr id="7170" name="Picture 2" descr="Compact AttendSmart vs Traditional Methods Comparison Chart for PowerPoint Presentation">
            <a:extLst>
              <a:ext uri="{FF2B5EF4-FFF2-40B4-BE49-F238E27FC236}">
                <a16:creationId xmlns:a16="http://schemas.microsoft.com/office/drawing/2014/main" id="{D70D291C-F8E0-2120-1EE0-1A9193C18D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" t="6460" r="12804" b="5337"/>
          <a:stretch>
            <a:fillRect/>
          </a:stretch>
        </p:blipFill>
        <p:spPr bwMode="auto">
          <a:xfrm>
            <a:off x="5847268" y="934592"/>
            <a:ext cx="6344732" cy="5706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8960183-716F-FF62-B482-DD4608D0161A}"/>
              </a:ext>
            </a:extLst>
          </p:cNvPr>
          <p:cNvSpPr txBox="1">
            <a:spLocks/>
          </p:cNvSpPr>
          <p:nvPr/>
        </p:nvSpPr>
        <p:spPr bwMode="auto">
          <a:xfrm>
            <a:off x="0" y="86651"/>
            <a:ext cx="12192000" cy="835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4000" b="1" dirty="0">
                <a:solidFill>
                  <a:schemeClr val="tx2">
                    <a:lumMod val="50000"/>
                  </a:schemeClr>
                </a:solidFill>
                <a:latin typeface="Garamond" panose="02020404030301010803" pitchFamily="18" charset="0"/>
              </a:rPr>
              <a:t>RESEARCH  AND REFERENCES</a:t>
            </a:r>
          </a:p>
        </p:txBody>
      </p:sp>
      <p:pic>
        <p:nvPicPr>
          <p:cNvPr id="4" name="Picture 2" descr="https://www.sih.gov.in/img1/SIH-Logo.png">
            <a:extLst>
              <a:ext uri="{FF2B5EF4-FFF2-40B4-BE49-F238E27FC236}">
                <a16:creationId xmlns:a16="http://schemas.microsoft.com/office/drawing/2014/main" id="{773E43ED-5C3D-67EB-C28E-C547B4375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7751" y="-24519"/>
            <a:ext cx="1862735" cy="946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69D419EE-7381-DAC1-D157-DCD55CCFA0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69929"/>
            <a:ext cx="1175222" cy="75791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Attend Smart</a:t>
            </a:r>
            <a:endParaRPr lang="en-IN" sz="1600" b="1" dirty="0">
              <a:solidFill>
                <a:schemeClr val="tx1"/>
              </a:solidFill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C1CF534-3F87-2EF5-744F-BE1C31BFFD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368514"/>
              </p:ext>
            </p:extLst>
          </p:nvPr>
        </p:nvGraphicFramePr>
        <p:xfrm>
          <a:off x="228515" y="1033456"/>
          <a:ext cx="11734969" cy="5629755"/>
        </p:xfrm>
        <a:graphic>
          <a:graphicData uri="http://schemas.openxmlformats.org/drawingml/2006/table">
            <a:tbl>
              <a:tblPr/>
              <a:tblGrid>
                <a:gridCol w="4734453">
                  <a:extLst>
                    <a:ext uri="{9D8B030D-6E8A-4147-A177-3AD203B41FA5}">
                      <a16:colId xmlns:a16="http://schemas.microsoft.com/office/drawing/2014/main" val="186216209"/>
                    </a:ext>
                  </a:extLst>
                </a:gridCol>
                <a:gridCol w="2063736">
                  <a:extLst>
                    <a:ext uri="{9D8B030D-6E8A-4147-A177-3AD203B41FA5}">
                      <a16:colId xmlns:a16="http://schemas.microsoft.com/office/drawing/2014/main" val="1922559937"/>
                    </a:ext>
                  </a:extLst>
                </a:gridCol>
                <a:gridCol w="3621654">
                  <a:extLst>
                    <a:ext uri="{9D8B030D-6E8A-4147-A177-3AD203B41FA5}">
                      <a16:colId xmlns:a16="http://schemas.microsoft.com/office/drawing/2014/main" val="848924537"/>
                    </a:ext>
                  </a:extLst>
                </a:gridCol>
                <a:gridCol w="1315126">
                  <a:extLst>
                    <a:ext uri="{9D8B030D-6E8A-4147-A177-3AD203B41FA5}">
                      <a16:colId xmlns:a16="http://schemas.microsoft.com/office/drawing/2014/main" val="3202761131"/>
                    </a:ext>
                  </a:extLst>
                </a:gridCol>
              </a:tblGrid>
              <a:tr h="6676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1" i="0" u="none" strike="noStrike" dirty="0">
                          <a:solidFill>
                            <a:srgbClr val="FFFFFF"/>
                          </a:solidFill>
                          <a:effectLst/>
                          <a:latin typeface="Kristen ITC" panose="03050502040202030202" pitchFamily="66" charset="0"/>
                        </a:rPr>
                        <a:t> Reference</a:t>
                      </a:r>
                    </a:p>
                  </a:txBody>
                  <a:tcPr marL="12139" marR="12139" marT="121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1" i="0" u="none" strike="noStrike" dirty="0">
                          <a:solidFill>
                            <a:srgbClr val="FFFFFF"/>
                          </a:solidFill>
                          <a:effectLst/>
                          <a:latin typeface="Kristen ITC" panose="03050502040202030202" pitchFamily="66" charset="0"/>
                        </a:rPr>
                        <a:t> Technology Focus</a:t>
                      </a:r>
                    </a:p>
                  </a:txBody>
                  <a:tcPr marL="12139" marR="12139" marT="121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1" i="0" u="none" strike="noStrike" dirty="0">
                          <a:solidFill>
                            <a:srgbClr val="FFFFFF"/>
                          </a:solidFill>
                          <a:effectLst/>
                          <a:latin typeface="Kristen ITC" panose="03050502040202030202" pitchFamily="66" charset="0"/>
                        </a:rPr>
                        <a:t> </a:t>
                      </a:r>
                      <a:r>
                        <a:rPr lang="en-IN" sz="17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Kristen ITC" panose="03050502040202030202" pitchFamily="66" charset="0"/>
                        </a:rPr>
                        <a:t>AttendSmart</a:t>
                      </a:r>
                      <a:r>
                        <a:rPr lang="en-IN" sz="1700" b="1" i="0" u="none" strike="noStrike" dirty="0">
                          <a:solidFill>
                            <a:srgbClr val="FFFFFF"/>
                          </a:solidFill>
                          <a:effectLst/>
                          <a:latin typeface="Kristen ITC" panose="03050502040202030202" pitchFamily="66" charset="0"/>
                        </a:rPr>
                        <a:t> Connection</a:t>
                      </a:r>
                    </a:p>
                  </a:txBody>
                  <a:tcPr marL="12139" marR="12139" marT="121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1" i="0" u="none" strike="noStrike" dirty="0">
                          <a:solidFill>
                            <a:srgbClr val="FFFFFF"/>
                          </a:solidFill>
                          <a:effectLst/>
                          <a:latin typeface="Kristen ITC" panose="03050502040202030202" pitchFamily="66" charset="0"/>
                        </a:rPr>
                        <a:t> Citations</a:t>
                      </a:r>
                    </a:p>
                  </a:txBody>
                  <a:tcPr marL="12139" marR="12139" marT="121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796159"/>
                  </a:ext>
                </a:extLst>
              </a:tr>
              <a:tr h="9924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[1] N. </a:t>
                      </a:r>
                      <a:r>
                        <a:rPr lang="en-US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Surantha</a:t>
                      </a: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 et al., 'Lightweight face recognition-based portable attendance system with anti-spoofing,' ScienceDirect, 2024</a:t>
                      </a:r>
                    </a:p>
                  </a:txBody>
                  <a:tcPr marL="12139" marR="12139" marT="121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Face Recognition +            Anti-Spoofing</a:t>
                      </a:r>
                    </a:p>
                  </a:txBody>
                  <a:tcPr marL="12139" marR="12139" marT="121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Liveness detection (smile/blink) to prevent photo spoofing</a:t>
                      </a:r>
                    </a:p>
                  </a:txBody>
                  <a:tcPr marL="12139" marR="12139" marT="121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22 citations</a:t>
                      </a:r>
                    </a:p>
                  </a:txBody>
                  <a:tcPr marL="12139" marR="12139" marT="121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05292"/>
                  </a:ext>
                </a:extLst>
              </a:tr>
              <a:tr h="9924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[2] H. Xia et al., 'Using Multiple Barometers to Detect Floor Location of Smart Phones,' PMC, 2015</a:t>
                      </a:r>
                    </a:p>
                  </a:txBody>
                  <a:tcPr marL="12139" marR="12139" marT="121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Barometric Floor Positioning</a:t>
                      </a:r>
                    </a:p>
                  </a:txBody>
                  <a:tcPr marL="12139" marR="12139" marT="121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Floor-level verification using smartphone sensors</a:t>
                      </a:r>
                    </a:p>
                  </a:txBody>
                  <a:tcPr marL="12139" marR="12139" marT="121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136 citations</a:t>
                      </a:r>
                    </a:p>
                  </a:txBody>
                  <a:tcPr marL="12139" marR="12139" marT="121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585633"/>
                  </a:ext>
                </a:extLst>
              </a:tr>
              <a:tr h="9924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[3] R. Lodha et al., 'Bluetooth Smart Based Attendance Management System,' Procedia Computer Science, 2015</a:t>
                      </a:r>
                    </a:p>
                  </a:txBody>
                  <a:tcPr marL="12139" marR="12139" marT="121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BLE Proximity Detection</a:t>
                      </a:r>
                    </a:p>
                  </a:txBody>
                  <a:tcPr marL="12139" marR="12139" marT="121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8-meter proximity verification using Bluetooth Low Energy</a:t>
                      </a:r>
                    </a:p>
                  </a:txBody>
                  <a:tcPr marL="12139" marR="12139" marT="121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200+ citations</a:t>
                      </a:r>
                    </a:p>
                  </a:txBody>
                  <a:tcPr marL="12139" marR="12139" marT="121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33294"/>
                  </a:ext>
                </a:extLst>
              </a:tr>
              <a:tr h="9924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[4] D. Saraswat et al., 'Anti-spoofing-enabled Contactless Attendance Monitoring System,' PMC, 2023</a:t>
                      </a:r>
                    </a:p>
                  </a:txBody>
                  <a:tcPr marL="12139" marR="12139" marT="121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Contactless Anti-Spoofing</a:t>
                      </a:r>
                    </a:p>
                  </a:txBody>
                  <a:tcPr marL="12139" marR="12139" marT="121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Proxy prevention through contactless biometric verification</a:t>
                      </a:r>
                    </a:p>
                  </a:txBody>
                  <a:tcPr marL="12139" marR="12139" marT="121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20 citations</a:t>
                      </a:r>
                    </a:p>
                  </a:txBody>
                  <a:tcPr marL="12139" marR="12139" marT="121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142959"/>
                  </a:ext>
                </a:extLst>
              </a:tr>
              <a:tr h="9924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[5] J. Samatha et al., 'Smart attendance monitoring system using multimodal biometric authentication,' 2025</a:t>
                      </a:r>
                    </a:p>
                  </a:txBody>
                  <a:tcPr marL="12139" marR="12139" marT="121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Multi-Modal Integration</a:t>
                      </a:r>
                    </a:p>
                  </a:txBody>
                  <a:tcPr marL="12139" marR="12139" marT="121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Multiple verification layers for enhanced security</a:t>
                      </a:r>
                    </a:p>
                  </a:txBody>
                  <a:tcPr marL="12139" marR="12139" marT="121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Recent publication</a:t>
                      </a:r>
                    </a:p>
                  </a:txBody>
                  <a:tcPr marL="12139" marR="12139" marT="121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974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8723</TotalTime>
  <Words>593</Words>
  <Application>Microsoft Office PowerPoint</Application>
  <PresentationFormat>Widescreen</PresentationFormat>
  <Paragraphs>100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Microsoft YaHei Light</vt:lpstr>
      <vt:lpstr>ＭＳ Ｐゴシック</vt:lpstr>
      <vt:lpstr>Arial</vt:lpstr>
      <vt:lpstr>Calibri</vt:lpstr>
      <vt:lpstr>Cambria</vt:lpstr>
      <vt:lpstr>Cinzel</vt:lpstr>
      <vt:lpstr>Garamond</vt:lpstr>
      <vt:lpstr>Kristen ITC</vt:lpstr>
      <vt:lpstr>TradeGothic</vt:lpstr>
      <vt:lpstr>Office Theme</vt:lpstr>
      <vt:lpstr>SMART INDIA HACKATHON 2025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LUCK .</cp:lastModifiedBy>
  <cp:revision>209</cp:revision>
  <dcterms:created xsi:type="dcterms:W3CDTF">2013-12-12T18:46:50Z</dcterms:created>
  <dcterms:modified xsi:type="dcterms:W3CDTF">2025-09-29T18:38:44Z</dcterms:modified>
  <cp:category/>
</cp:coreProperties>
</file>